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3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1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9.png" Type="http://schemas.openxmlformats.org/officeDocument/2006/relationships/image"/><Relationship Id="rId4" Target="../media/image5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7.png" Type="http://schemas.openxmlformats.org/officeDocument/2006/relationships/image"/><Relationship Id="rId4" Target="../media/image3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7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3.png" Type="http://schemas.openxmlformats.org/officeDocument/2006/relationships/image"/><Relationship Id="rId7" Target="../media/image13.png" Type="http://schemas.openxmlformats.org/officeDocument/2006/relationships/image"/><Relationship Id="rId8" Target="../media/image32.png" Type="http://schemas.openxmlformats.org/officeDocument/2006/relationships/image"/><Relationship Id="rId9" Target="../media/image4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35.png" Type="http://schemas.openxmlformats.org/officeDocument/2006/relationships/image"/><Relationship Id="rId8" Target="../media/image48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5" id="5"/>
          <p:cNvSpPr txBox="true"/>
          <p:nvPr/>
        </p:nvSpPr>
        <p:spPr>
          <a:xfrm>
            <a:off x="876300" y="2197100"/>
            <a:ext cx="72390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075594"/>
                </a:solidFill>
                <a:latin typeface="&quot;Yeseva One&quot;"/>
              </a:rPr>
              <a:t>Outils d'Analyse et de Conception de Logiciels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76300" y="4749800"/>
            <a:ext cx="7239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Maîtriser les diagrammes de flux de données, le dictionnaire de données et la conception structurée pour des logiciels de qualité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6934200" y="850900"/>
            <a:ext cx="8445500" cy="7416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6934200" y="850900"/>
            <a:ext cx="84455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6934200" y="2095500"/>
            <a:ext cx="84455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6934200" y="3327400"/>
            <a:ext cx="84455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6934200" y="4559300"/>
            <a:ext cx="84455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6934200" y="6108700"/>
            <a:ext cx="84455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6934200" y="7340600"/>
            <a:ext cx="84455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10" id="10"/>
          <p:cNvSpPr txBox="true"/>
          <p:nvPr/>
        </p:nvSpPr>
        <p:spPr>
          <a:xfrm>
            <a:off x="876300" y="4254500"/>
            <a:ext cx="54229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Sommaire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6934200" y="850900"/>
            <a:ext cx="84455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075594"/>
                </a:solidFill>
                <a:latin typeface="&quot;Yeseva One&quot;"/>
              </a:rPr>
              <a:t>01. Diagrammes de flux de données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934200" y="2095500"/>
            <a:ext cx="84455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075594"/>
                </a:solidFill>
                <a:latin typeface="&quot;Yeseva One&quot;"/>
              </a:rPr>
              <a:t>02. Importance dans la conception logicielle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6934200" y="3327400"/>
            <a:ext cx="84455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075594"/>
                </a:solidFill>
                <a:latin typeface="&quot;Yeseva One&quot;"/>
              </a:rPr>
              <a:t>03. Dictionnaire de données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6934200" y="4559300"/>
            <a:ext cx="84455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075594"/>
                </a:solidFill>
                <a:latin typeface="&quot;Yeseva One&quot;"/>
              </a:rPr>
              <a:t>04. Conception structurée et organigrammes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934200" y="6108700"/>
            <a:ext cx="84455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075594"/>
                </a:solidFill>
                <a:latin typeface="&quot;Yeseva One&quot;"/>
              </a:rPr>
              <a:t>05. Introduction à DevOps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934200" y="7340600"/>
            <a:ext cx="84455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075594"/>
                </a:solidFill>
                <a:latin typeface="&quot;Yeseva One&quot;"/>
              </a:rPr>
              <a:t>06. Méthodologie Scrum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6934200" y="1282700"/>
            <a:ext cx="84455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300" b="true">
                <a:solidFill>
                  <a:srgbClr val="075594"/>
                </a:solidFill>
                <a:latin typeface="&quot;Yeseva One&quot;"/>
              </a:rPr>
              <a:t>Définition, historique, composants essentiels et symboles utilisés dans la modélisation des flux d'informations.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6934200" y="2514600"/>
            <a:ext cx="84455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300" b="true">
                <a:solidFill>
                  <a:srgbClr val="075594"/>
                </a:solidFill>
                <a:latin typeface="&quot;Yeseva One&quot;"/>
              </a:rPr>
              <a:t>Impact des DFD sur la qualité, la sécurité et l'efficacité des systèmes logiciels modernes.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934200" y="3746500"/>
            <a:ext cx="84455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300" b="true">
                <a:solidFill>
                  <a:srgbClr val="075594"/>
                </a:solidFill>
                <a:latin typeface="&quot;Yeseva One&quot;"/>
              </a:rPr>
              <a:t>Création et gestion d'un référentiel de métadonnées pour assurer la cohérence des éléments de données.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6934200" y="5295900"/>
            <a:ext cx="84455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300" b="true">
                <a:solidFill>
                  <a:srgbClr val="075594"/>
                </a:solidFill>
                <a:latin typeface="&quot;Yeseva One&quot;"/>
              </a:rPr>
              <a:t>Méthodes et outils pour structurer les projets et améliorer la compréhension des processus complexes.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934200" y="6527800"/>
            <a:ext cx="84455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300" b="true">
                <a:solidFill>
                  <a:srgbClr val="075594"/>
                </a:solidFill>
                <a:latin typeface="&quot;Yeseva One&quot;"/>
              </a:rPr>
              <a:t>Culture DevOps, cycle de développement et avantages de l'intégration continue et du déploiement automatisé.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6934200" y="7772400"/>
            <a:ext cx="84455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300" b="true">
                <a:solidFill>
                  <a:srgbClr val="075594"/>
                </a:solidFill>
                <a:latin typeface="&quot;Yeseva One&quot;"/>
              </a:rPr>
              <a:t>Framework agile avec rôles, événements et synergie avec DevOps pour un développement itératif optimal.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2692400"/>
            <a:ext cx="9283700" cy="5232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2692400"/>
            <a:ext cx="2921000" cy="52324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6" id="6"/>
          <p:cNvSpPr/>
          <p:nvPr/>
        </p:nvSpPr>
        <p:spPr>
          <a:xfrm>
            <a:off x="1955800" y="2946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7" id="7"/>
          <p:cNvSpPr/>
          <p:nvPr/>
        </p:nvSpPr>
        <p:spPr>
          <a:xfrm>
            <a:off x="4051300" y="2692400"/>
            <a:ext cx="2921000" cy="52324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8" id="8"/>
          <p:cNvSpPr/>
          <p:nvPr/>
        </p:nvSpPr>
        <p:spPr>
          <a:xfrm>
            <a:off x="5143500" y="2946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9" id="9"/>
          <p:cNvSpPr/>
          <p:nvPr/>
        </p:nvSpPr>
        <p:spPr>
          <a:xfrm>
            <a:off x="7239000" y="2692400"/>
            <a:ext cx="2921000" cy="52324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0" id="10"/>
          <p:cNvSpPr/>
          <p:nvPr/>
        </p:nvSpPr>
        <p:spPr>
          <a:xfrm>
            <a:off x="8318500" y="2946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TextBox 11" id="11"/>
          <p:cNvSpPr txBox="true"/>
          <p:nvPr/>
        </p:nvSpPr>
        <p:spPr>
          <a:xfrm>
            <a:off x="876300" y="1193800"/>
            <a:ext cx="9283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75594"/>
                </a:solidFill>
                <a:latin typeface="&quot;Yeseva One&quot;"/>
              </a:rPr>
              <a:t>Diagramme de Flux de Données (DFD) : Définition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30300" y="3949700"/>
            <a:ext cx="2413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Qu'est-ce qu'un DFD ?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4305300" y="3949700"/>
            <a:ext cx="24130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Historique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7493000" y="3949700"/>
            <a:ext cx="2413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Utilisation actuelle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5029200"/>
            <a:ext cx="24130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Représentation visuelle du flux d'informations dans un système illustrant les chemins et processus.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305300" y="4584700"/>
            <a:ext cx="24130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Introduits dans les années 1970 par Constantine et Yourdon, révolutionnant l'ingénierie logicielle.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7493000" y="5029200"/>
            <a:ext cx="2413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Complémentaires aux UML, fournissent des vues globales du système.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3"/>
          <a:srcRect t="7000" b="7000"/>
          <a:stretch>
            <a:fillRect/>
          </a:stretch>
        </p:blipFill>
        <p:spPr>
          <a:xfrm>
            <a:off x="2197100" y="3200400"/>
            <a:ext cx="2794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rcRect l="0" r="0"/>
          <a:stretch>
            <a:fillRect/>
          </a:stretch>
        </p:blipFill>
        <p:spPr>
          <a:xfrm>
            <a:off x="5397500" y="3200400"/>
            <a:ext cx="241300" cy="241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rcRect l="14000" r="14000"/>
          <a:stretch>
            <a:fillRect/>
          </a:stretch>
        </p:blipFill>
        <p:spPr>
          <a:xfrm>
            <a:off x="8610600" y="3200400"/>
            <a:ext cx="177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2794000"/>
            <a:ext cx="14490700" cy="5765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2794000"/>
            <a:ext cx="3429000" cy="5765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193800" y="2997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4559300" y="2794000"/>
            <a:ext cx="3429000" cy="5765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4876800" y="2997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8242300" y="2794000"/>
            <a:ext cx="3429000" cy="5765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8572500" y="2997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11938000" y="2794000"/>
            <a:ext cx="3429000" cy="5765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12255500" y="2997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TextBox 12" id="12"/>
          <p:cNvSpPr txBox="true"/>
          <p:nvPr/>
        </p:nvSpPr>
        <p:spPr>
          <a:xfrm>
            <a:off x="876300" y="558800"/>
            <a:ext cx="14490700" cy="198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Les Composants Essentiels d'un DFD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822700"/>
            <a:ext cx="29210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Entités Externes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4813300" y="3822700"/>
            <a:ext cx="29210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Processus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496300" y="3822700"/>
            <a:ext cx="2921000" cy="167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Entrepôts de Données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2179300" y="3822700"/>
            <a:ext cx="29210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Flux de Données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5092700"/>
            <a:ext cx="2921000" cy="326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Acteurs externes (clients, fournisseurs) qui envoient ou reçoivent des données.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813300" y="4533900"/>
            <a:ext cx="2921000" cy="232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Modifient les données pour produire une information exploitable.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496300" y="5651500"/>
            <a:ext cx="2921000" cy="232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Espaces de stockage temporaire ou permanent des données.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2179300" y="5092700"/>
            <a:ext cx="2921000" cy="2324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Circulation des informations entre entités, processus et entrepôts.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t="17000" b="17000"/>
          <a:stretch>
            <a:fillRect/>
          </a:stretch>
        </p:blipFill>
        <p:spPr>
          <a:xfrm>
            <a:off x="1346200" y="3200400"/>
            <a:ext cx="304800" cy="2032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t="17000" b="17000"/>
          <a:stretch>
            <a:fillRect/>
          </a:stretch>
        </p:blipFill>
        <p:spPr>
          <a:xfrm>
            <a:off x="5029200" y="3200400"/>
            <a:ext cx="304800" cy="20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t="3000" b="3000"/>
          <a:stretch>
            <a:fillRect/>
          </a:stretch>
        </p:blipFill>
        <p:spPr>
          <a:xfrm>
            <a:off x="8763000" y="3200400"/>
            <a:ext cx="215900" cy="203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t="3000" b="3000"/>
          <a:stretch>
            <a:fillRect/>
          </a:stretch>
        </p:blipFill>
        <p:spPr>
          <a:xfrm>
            <a:off x="12458700" y="3200400"/>
            <a:ext cx="2159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2400300"/>
            <a:ext cx="14490700" cy="4356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2400300"/>
            <a:ext cx="7112000" cy="43561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231900" y="2578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8242300" y="2400300"/>
            <a:ext cx="7112000" cy="43561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8610600" y="2578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TextBox 8" id="8"/>
          <p:cNvSpPr txBox="true"/>
          <p:nvPr/>
        </p:nvSpPr>
        <p:spPr>
          <a:xfrm>
            <a:off x="876300" y="482600"/>
            <a:ext cx="14490700" cy="170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Méthodes de Notation des DFD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1130300" y="3289300"/>
            <a:ext cx="6604000" cy="128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Méthode Yourdon et Coad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496300" y="3289300"/>
            <a:ext cx="6604000" cy="1282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Méthode Gane et Sarson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876300" y="6959600"/>
            <a:ext cx="14490700" cy="167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Le choix de la méthode dépend des préférences de l'équipe et du contexte du projet.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130300" y="4699000"/>
            <a:ext cx="66040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75594"/>
                </a:solidFill>
                <a:latin typeface="&quot;Yeseva One&quot;"/>
              </a:rPr>
              <a:t>Cercles pour processus, rectangles pour entités externes. Méthode simple et intuitive.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8496300" y="4699000"/>
            <a:ext cx="66040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75594"/>
                </a:solidFill>
                <a:latin typeface="&quot;Yeseva One&quot;"/>
              </a:rPr>
              <a:t>Rectangles arrondis et symboles détaillés. Approche orientée systèmes d'information.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rcRect t="14000" b="14000"/>
          <a:stretch>
            <a:fillRect/>
          </a:stretch>
        </p:blipFill>
        <p:spPr>
          <a:xfrm>
            <a:off x="1384300" y="2755900"/>
            <a:ext cx="241300" cy="177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t="14000" b="14000"/>
          <a:stretch>
            <a:fillRect/>
          </a:stretch>
        </p:blipFill>
        <p:spPr>
          <a:xfrm>
            <a:off x="8750300" y="2755900"/>
            <a:ext cx="2413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2082800"/>
            <a:ext cx="8445500" cy="54991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4" id="4"/>
          <p:cNvSpPr/>
          <p:nvPr/>
        </p:nvSpPr>
        <p:spPr>
          <a:xfrm>
            <a:off x="9956800" y="1638300"/>
            <a:ext cx="5422900" cy="6388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9956800" y="1638300"/>
            <a:ext cx="2578100" cy="63881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6" id="6"/>
          <p:cNvSpPr/>
          <p:nvPr/>
        </p:nvSpPr>
        <p:spPr>
          <a:xfrm>
            <a:off x="10922000" y="18542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75594"/>
          </a:solidFill>
        </p:spPr>
      </p:sp>
      <p:sp>
        <p:nvSpPr>
          <p:cNvPr name="AutoShape 7" id="7"/>
          <p:cNvSpPr/>
          <p:nvPr/>
        </p:nvSpPr>
        <p:spPr>
          <a:xfrm>
            <a:off x="12788900" y="1638300"/>
            <a:ext cx="2578100" cy="63881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8" id="8"/>
          <p:cNvSpPr/>
          <p:nvPr/>
        </p:nvSpPr>
        <p:spPr>
          <a:xfrm>
            <a:off x="13766800" y="18542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75594"/>
          </a:solidFill>
        </p:spPr>
      </p:sp>
      <p:sp>
        <p:nvSpPr>
          <p:cNvPr name="TextBox 9" id="9"/>
          <p:cNvSpPr txBox="true"/>
          <p:nvPr/>
        </p:nvSpPr>
        <p:spPr>
          <a:xfrm>
            <a:off x="876300" y="596900"/>
            <a:ext cx="144907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400" b="true">
                <a:solidFill>
                  <a:srgbClr val="075594"/>
                </a:solidFill>
                <a:latin typeface="&quot;Yeseva One&quot;"/>
              </a:rPr>
              <a:t>Impact des DFD sur la Précision d'Analyse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10210800" y="2730500"/>
            <a:ext cx="20828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075594"/>
                </a:solidFill>
                <a:latin typeface="&quot;Yeseva One&quot;"/>
              </a:rPr>
              <a:t>Amélioration de 41%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3042900" y="2730500"/>
            <a:ext cx="2082800" cy="97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100" b="true">
                <a:solidFill>
                  <a:srgbClr val="075594"/>
                </a:solidFill>
                <a:latin typeface="&quot;Yeseva One&quot;"/>
              </a:rPr>
              <a:t>Importance de la Traçabilité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0210800" y="3530600"/>
            <a:ext cx="2082800" cy="426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075594"/>
                </a:solidFill>
                <a:latin typeface="&quot;Yeseva One&quot;"/>
              </a:rPr>
              <a:t>Les DFD augmentent significativement la précision de l'analyse logicielle, particulièrement pour les tâches complexes nécessitant une compréhension architecturale.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3042900" y="3860800"/>
            <a:ext cx="2082800" cy="360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700" b="true">
                <a:solidFill>
                  <a:srgbClr val="075594"/>
                </a:solidFill>
                <a:latin typeface="&quot;Yeseva One&quot;"/>
              </a:rPr>
              <a:t>L'utilisation d'informations de traçabilité améliore la capacité à fournir des preuves valides, augmentant la correction des preuves de 315%.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rcRect t="6000" b="6000"/>
          <a:stretch>
            <a:fillRect/>
          </a:stretch>
        </p:blipFill>
        <p:spPr>
          <a:xfrm>
            <a:off x="11125200" y="2070100"/>
            <a:ext cx="241300" cy="215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13931900" y="2070100"/>
            <a:ext cx="3048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0" y="0"/>
            <a:ext cx="51943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6083300" y="2159000"/>
            <a:ext cx="9283700" cy="6654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6083300" y="2159000"/>
            <a:ext cx="2921000" cy="3987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6" id="6"/>
          <p:cNvSpPr/>
          <p:nvPr/>
        </p:nvSpPr>
        <p:spPr>
          <a:xfrm>
            <a:off x="6527800" y="2273300"/>
            <a:ext cx="342900" cy="342900"/>
          </a:xfrm>
          <a:prstGeom prst="roundRect">
            <a:avLst>
              <a:gd name="adj" fmla="val 48148"/>
            </a:avLst>
          </a:prstGeom>
          <a:solidFill>
            <a:srgbClr val="075594"/>
          </a:solidFill>
        </p:spPr>
      </p:sp>
      <p:sp>
        <p:nvSpPr>
          <p:cNvPr name="AutoShape 7" id="7"/>
          <p:cNvSpPr/>
          <p:nvPr/>
        </p:nvSpPr>
        <p:spPr>
          <a:xfrm>
            <a:off x="9258300" y="2159000"/>
            <a:ext cx="2921000" cy="3987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8" id="8"/>
          <p:cNvSpPr/>
          <p:nvPr/>
        </p:nvSpPr>
        <p:spPr>
          <a:xfrm>
            <a:off x="9715500" y="2273300"/>
            <a:ext cx="342900" cy="342900"/>
          </a:xfrm>
          <a:prstGeom prst="roundRect">
            <a:avLst>
              <a:gd name="adj" fmla="val 48148"/>
            </a:avLst>
          </a:prstGeom>
          <a:solidFill>
            <a:srgbClr val="075594"/>
          </a:solidFill>
        </p:spPr>
      </p:sp>
      <p:sp>
        <p:nvSpPr>
          <p:cNvPr name="AutoShape 9" id="9"/>
          <p:cNvSpPr/>
          <p:nvPr/>
        </p:nvSpPr>
        <p:spPr>
          <a:xfrm>
            <a:off x="12433300" y="2159000"/>
            <a:ext cx="2921000" cy="3987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0" id="10"/>
          <p:cNvSpPr/>
          <p:nvPr/>
        </p:nvSpPr>
        <p:spPr>
          <a:xfrm>
            <a:off x="12890500" y="2273300"/>
            <a:ext cx="342900" cy="342900"/>
          </a:xfrm>
          <a:prstGeom prst="roundRect">
            <a:avLst>
              <a:gd name="adj" fmla="val 48148"/>
            </a:avLst>
          </a:prstGeom>
          <a:solidFill>
            <a:srgbClr val="075594"/>
          </a:solidFill>
        </p:spPr>
      </p:sp>
      <p:sp>
        <p:nvSpPr>
          <p:cNvPr name="AutoShape 11" id="11"/>
          <p:cNvSpPr/>
          <p:nvPr/>
        </p:nvSpPr>
        <p:spPr>
          <a:xfrm>
            <a:off x="6083300" y="6261100"/>
            <a:ext cx="4508500" cy="25400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2" id="12"/>
          <p:cNvSpPr/>
          <p:nvPr/>
        </p:nvSpPr>
        <p:spPr>
          <a:xfrm>
            <a:off x="6527800" y="6375400"/>
            <a:ext cx="342900" cy="342900"/>
          </a:xfrm>
          <a:prstGeom prst="roundRect">
            <a:avLst>
              <a:gd name="adj" fmla="val 48148"/>
            </a:avLst>
          </a:prstGeom>
          <a:solidFill>
            <a:srgbClr val="075594"/>
          </a:solidFill>
        </p:spPr>
      </p:sp>
      <p:sp>
        <p:nvSpPr>
          <p:cNvPr name="AutoShape 13" id="13"/>
          <p:cNvSpPr/>
          <p:nvPr/>
        </p:nvSpPr>
        <p:spPr>
          <a:xfrm>
            <a:off x="10845800" y="6261100"/>
            <a:ext cx="4508500" cy="25400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4" id="14"/>
          <p:cNvSpPr/>
          <p:nvPr/>
        </p:nvSpPr>
        <p:spPr>
          <a:xfrm>
            <a:off x="11303000" y="6375400"/>
            <a:ext cx="342900" cy="342900"/>
          </a:xfrm>
          <a:prstGeom prst="roundRect">
            <a:avLst>
              <a:gd name="adj" fmla="val 48148"/>
            </a:avLst>
          </a:prstGeom>
          <a:solidFill>
            <a:srgbClr val="075594"/>
          </a:solidFill>
        </p:spPr>
      </p:sp>
      <p:sp>
        <p:nvSpPr>
          <p:cNvPr name="TextBox 15" id="15"/>
          <p:cNvSpPr txBox="true"/>
          <p:nvPr/>
        </p:nvSpPr>
        <p:spPr>
          <a:xfrm>
            <a:off x="6083300" y="317500"/>
            <a:ext cx="9283700" cy="170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Pourquoi les DFD sont-ils Importants ?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324600" y="2743200"/>
            <a:ext cx="24130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Meilleure Compréhension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9512300" y="2743200"/>
            <a:ext cx="24130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Analyse des Systèmes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2687300" y="2743200"/>
            <a:ext cx="2413000" cy="158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Identification des Problèmes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324600" y="6858000"/>
            <a:ext cx="4013200" cy="95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Amélioration des Processus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099800" y="6858000"/>
            <a:ext cx="40132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Favoriser la Collaboration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6324600" y="4114800"/>
            <a:ext cx="24130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Représentation visuelle claire des systèmes complexes.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9512300" y="4114800"/>
            <a:ext cx="24130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Illustre les relations et interactions entre composants.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2687300" y="4432300"/>
            <a:ext cx="2413000" cy="158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Détecte goulots d'étranglement et redondances.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6324600" y="7899400"/>
            <a:ext cx="40132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Optimise les flux de données et processus.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099800" y="7581900"/>
            <a:ext cx="4013200" cy="787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Langage visuel commun pour toutes les équipes.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3"/>
          <a:srcRect t="30000" b="30000"/>
          <a:stretch>
            <a:fillRect/>
          </a:stretch>
        </p:blipFill>
        <p:spPr>
          <a:xfrm>
            <a:off x="6565900" y="2387600"/>
            <a:ext cx="279400" cy="114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"/>
          <a:srcRect t="27000" b="27000"/>
          <a:stretch>
            <a:fillRect/>
          </a:stretch>
        </p:blipFill>
        <p:spPr>
          <a:xfrm>
            <a:off x="9766300" y="2387600"/>
            <a:ext cx="241300" cy="114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4"/>
          <a:srcRect t="27000" b="27000"/>
          <a:stretch>
            <a:fillRect/>
          </a:stretch>
        </p:blipFill>
        <p:spPr>
          <a:xfrm>
            <a:off x="12941300" y="2387600"/>
            <a:ext cx="241300" cy="114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5"/>
          <a:srcRect t="24000" b="24000"/>
          <a:stretch>
            <a:fillRect/>
          </a:stretch>
        </p:blipFill>
        <p:spPr>
          <a:xfrm>
            <a:off x="6591300" y="6502400"/>
            <a:ext cx="215900" cy="114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6"/>
          <a:srcRect t="32000" b="32000"/>
          <a:stretch>
            <a:fillRect/>
          </a:stretch>
        </p:blipFill>
        <p:spPr>
          <a:xfrm>
            <a:off x="11315700" y="6502400"/>
            <a:ext cx="3048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5130800"/>
            <a:ext cx="92837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5130800"/>
            <a:ext cx="92837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5130800"/>
            <a:ext cx="558800" cy="3175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876300" y="6959600"/>
            <a:ext cx="12700" cy="16129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TextBox 8" id="8"/>
          <p:cNvSpPr txBox="true"/>
          <p:nvPr/>
        </p:nvSpPr>
        <p:spPr>
          <a:xfrm>
            <a:off x="876300" y="393700"/>
            <a:ext cx="9283700" cy="207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Le Dictionnaire de Données : Fondements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876300" y="2628900"/>
            <a:ext cx="9283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Définition et Rôle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76300" y="4051300"/>
            <a:ext cx="92837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Composants du Dictionnaire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092200" y="5181600"/>
            <a:ext cx="304800" cy="21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876300" y="3251200"/>
            <a:ext cx="92837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Collection de métadonnées définissant les éléments de données de manière standardisée.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943100" y="5181600"/>
            <a:ext cx="8216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Noms et descriptions des éléments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943100" y="5613400"/>
            <a:ext cx="8216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Types de données et valeurs autorisées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943100" y="6032500"/>
            <a:ext cx="8216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Contraintes et règles de validation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943100" y="6464300"/>
            <a:ext cx="82169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Relations entre les éléments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6959600"/>
            <a:ext cx="9029700" cy="161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&quot;Yeseva One&quot;"/>
              </a:rPr>
              <a:t>"Le dictionnaire de données permet aux utilisateurs professionnels d'avoir des informations provenant de sources principales sans connaître les détails techniques des modèles de données sous-jacents."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574800" y="5219700"/>
            <a:ext cx="241300" cy="139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1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574800" y="5651500"/>
            <a:ext cx="241300" cy="139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1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574800" y="6083300"/>
            <a:ext cx="241300" cy="139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1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574800" y="6515100"/>
            <a:ext cx="241300" cy="139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1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1803400"/>
            <a:ext cx="144907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1803400"/>
            <a:ext cx="14490700" cy="1879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876300" y="3873500"/>
            <a:ext cx="14490700" cy="4330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3873500"/>
            <a:ext cx="4660900" cy="4330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2832100" y="4127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5791200" y="3873500"/>
            <a:ext cx="4660900" cy="4330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7747000" y="4127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10706100" y="3873500"/>
            <a:ext cx="4660900" cy="4330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12661900" y="41275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TextBox 12" id="12"/>
          <p:cNvSpPr txBox="true"/>
          <p:nvPr/>
        </p:nvSpPr>
        <p:spPr>
          <a:xfrm>
            <a:off x="876300" y="9271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75594"/>
                </a:solidFill>
                <a:latin typeface="&quot;Yeseva One&quot;"/>
              </a:rPr>
              <a:t>Types d'Éléments du Dictionnaire de Données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2057400"/>
            <a:ext cx="13982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Structure du Dictionnaire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51308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Éléments Simples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6045200" y="51308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Éléments Composites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0960100" y="5130800"/>
            <a:ext cx="4152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Éléments de Collection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2692400"/>
            <a:ext cx="13982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Le dictionnaire de données est composé d'éléments de trois types distincts, permettant de modéliser toute la complexité des structures de données d'un système logiciel de manière organisée et hiérarchique.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56896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Éléments primitifs tels que chaînes, nombres, dates et valeurs booléennes. Exemple : nom de ville, code postal, montant.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6045200" y="56896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Contiennent d'autres éléments de dictionnaire pouvant être de type primitif, composite ou de collection. Exemple : une adresse complète.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0960100" y="5689600"/>
            <a:ext cx="41529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Liste d'éléments simples ou composites similaires. Exemple : client avec plusieurs emplacements ou adresses de facturation et livraison différentes.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l="6000" r="6000"/>
          <a:stretch>
            <a:fillRect/>
          </a:stretch>
        </p:blipFill>
        <p:spPr>
          <a:xfrm>
            <a:off x="3098800" y="4381500"/>
            <a:ext cx="215900" cy="241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t="7000" b="7000"/>
          <a:stretch>
            <a:fillRect/>
          </a:stretch>
        </p:blipFill>
        <p:spPr>
          <a:xfrm>
            <a:off x="7975600" y="4381500"/>
            <a:ext cx="279400" cy="241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l="0" r="0"/>
          <a:stretch>
            <a:fillRect/>
          </a:stretch>
        </p:blipFill>
        <p:spPr>
          <a:xfrm>
            <a:off x="12915900" y="43815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1993900"/>
            <a:ext cx="14490700" cy="1536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1993900"/>
            <a:ext cx="14490700" cy="1536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876300" y="3644900"/>
            <a:ext cx="14490700" cy="4076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3644900"/>
            <a:ext cx="3429000" cy="4076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1282700" y="3797300"/>
            <a:ext cx="444500" cy="444500"/>
          </a:xfrm>
          <a:prstGeom prst="roundRect">
            <a:avLst>
              <a:gd name="adj" fmla="val 48571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4559300" y="3644900"/>
            <a:ext cx="3429000" cy="4076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4965700" y="3797300"/>
            <a:ext cx="444500" cy="444500"/>
          </a:xfrm>
          <a:prstGeom prst="roundRect">
            <a:avLst>
              <a:gd name="adj" fmla="val 48571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8242300" y="3644900"/>
            <a:ext cx="3429000" cy="4076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8648700" y="3797300"/>
            <a:ext cx="444500" cy="444500"/>
          </a:xfrm>
          <a:prstGeom prst="roundRect">
            <a:avLst>
              <a:gd name="adj" fmla="val 48571"/>
            </a:avLst>
          </a:prstGeom>
          <a:solidFill>
            <a:srgbClr val="075594"/>
          </a:solidFill>
        </p:spPr>
      </p:sp>
      <p:sp>
        <p:nvSpPr>
          <p:cNvPr name="AutoShape 12" id="12"/>
          <p:cNvSpPr/>
          <p:nvPr/>
        </p:nvSpPr>
        <p:spPr>
          <a:xfrm>
            <a:off x="11938000" y="3644900"/>
            <a:ext cx="3429000" cy="4076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3" id="13"/>
          <p:cNvSpPr/>
          <p:nvPr/>
        </p:nvSpPr>
        <p:spPr>
          <a:xfrm>
            <a:off x="12344400" y="3797300"/>
            <a:ext cx="444500" cy="444500"/>
          </a:xfrm>
          <a:prstGeom prst="roundRect">
            <a:avLst>
              <a:gd name="adj" fmla="val 48571"/>
            </a:avLst>
          </a:prstGeom>
          <a:solidFill>
            <a:srgbClr val="075594"/>
          </a:solidFill>
        </p:spPr>
      </p:sp>
      <p:sp>
        <p:nvSpPr>
          <p:cNvPr name="AutoShape 14" id="14"/>
          <p:cNvSpPr/>
          <p:nvPr/>
        </p:nvSpPr>
        <p:spPr>
          <a:xfrm>
            <a:off x="876300" y="7886700"/>
            <a:ext cx="12700" cy="6604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TextBox 15" id="15"/>
          <p:cNvSpPr txBox="true"/>
          <p:nvPr/>
        </p:nvSpPr>
        <p:spPr>
          <a:xfrm>
            <a:off x="876300" y="406400"/>
            <a:ext cx="144907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Diagramme de Contexte : Vue d'Ensemble du Système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30300" y="2146300"/>
            <a:ext cx="139827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Définition et Objectif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4394200"/>
            <a:ext cx="29210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DFD Niveau 0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813300" y="4394200"/>
            <a:ext cx="2921000" cy="1397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Processus Unique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496300" y="4394200"/>
            <a:ext cx="2921000" cy="1397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Entités Externes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2179300" y="4394200"/>
            <a:ext cx="2921000" cy="927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075594"/>
                </a:solidFill>
                <a:latin typeface="&quot;Yeseva One&quot;"/>
              </a:rPr>
              <a:t>Flux de Données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2717800"/>
            <a:ext cx="139827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Vue d'ensemble illustrant les interactions avec entités externes. Le système comme boîte centrale.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5435600"/>
            <a:ext cx="29210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Plus haut niveau du modèle de flux de données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4813300" y="5905500"/>
            <a:ext cx="2921000" cy="166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Le système représenté comme processus unique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496300" y="5905500"/>
            <a:ext cx="29210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Identifie tous les acteurs externes du système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2179300" y="5435600"/>
            <a:ext cx="2921000" cy="1333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Illustre flux entrants et sortants du système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130300" y="7886700"/>
            <a:ext cx="142367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&quot;Yeseva One&quot;"/>
              </a:rPr>
              <a:t>"Le diagramme de contexte établit la portée et les limites du système avant d'entrer dans les détails de sa conception."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2"/>
          <a:srcRect t="25000" b="25000"/>
          <a:stretch>
            <a:fillRect/>
          </a:stretch>
        </p:blipFill>
        <p:spPr>
          <a:xfrm>
            <a:off x="1358900" y="3937000"/>
            <a:ext cx="279400" cy="1397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rcRect t="22000" b="22000"/>
          <a:stretch>
            <a:fillRect/>
          </a:stretch>
        </p:blipFill>
        <p:spPr>
          <a:xfrm>
            <a:off x="5067300" y="3937000"/>
            <a:ext cx="241300" cy="139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rcRect t="28000" b="28000"/>
          <a:stretch>
            <a:fillRect/>
          </a:stretch>
        </p:blipFill>
        <p:spPr>
          <a:xfrm>
            <a:off x="8724900" y="3937000"/>
            <a:ext cx="304800" cy="1397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5"/>
          <a:srcRect t="22000" b="22000"/>
          <a:stretch>
            <a:fillRect/>
          </a:stretch>
        </p:blipFill>
        <p:spPr>
          <a:xfrm>
            <a:off x="12433300" y="3937000"/>
            <a:ext cx="241300" cy="139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1765300"/>
            <a:ext cx="14490700" cy="5194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1765300"/>
            <a:ext cx="3429000" cy="51943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308100" y="1905000"/>
            <a:ext cx="393700" cy="393700"/>
          </a:xfrm>
          <a:prstGeom prst="roundRect">
            <a:avLst>
              <a:gd name="adj" fmla="val 48387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4559300" y="1765300"/>
            <a:ext cx="3429000" cy="51943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4991100" y="1905000"/>
            <a:ext cx="393700" cy="393700"/>
          </a:xfrm>
          <a:prstGeom prst="roundRect">
            <a:avLst>
              <a:gd name="adj" fmla="val 48387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8242300" y="1765300"/>
            <a:ext cx="3429000" cy="51943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8674100" y="1905000"/>
            <a:ext cx="393700" cy="393700"/>
          </a:xfrm>
          <a:prstGeom prst="roundRect">
            <a:avLst>
              <a:gd name="adj" fmla="val 48387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11938000" y="1765300"/>
            <a:ext cx="3429000" cy="51943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12369800" y="1905000"/>
            <a:ext cx="393700" cy="393700"/>
          </a:xfrm>
          <a:prstGeom prst="roundRect">
            <a:avLst>
              <a:gd name="adj" fmla="val 48387"/>
            </a:avLst>
          </a:prstGeom>
          <a:solidFill>
            <a:srgbClr val="075594"/>
          </a:solidFill>
        </p:spPr>
      </p:sp>
      <p:sp>
        <p:nvSpPr>
          <p:cNvPr name="TextBox 12" id="12"/>
          <p:cNvSpPr txBox="true"/>
          <p:nvPr/>
        </p:nvSpPr>
        <p:spPr>
          <a:xfrm>
            <a:off x="876300" y="355600"/>
            <a:ext cx="144907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Conception Structurée : Principes et Avantages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2425700"/>
            <a:ext cx="2921000" cy="189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Approche Modulaire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4813300" y="2425700"/>
            <a:ext cx="29210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Hiérarchisation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496300" y="2425700"/>
            <a:ext cx="29210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Couplage Lâche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2179300" y="2425700"/>
            <a:ext cx="29210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Réutilisabilité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76300" y="7112000"/>
            <a:ext cx="14490700" cy="165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200" b="true">
                <a:solidFill>
                  <a:srgbClr val="3498DB"/>
                </a:solidFill>
                <a:latin typeface="&quot;Yeseva One&quot;"/>
              </a:rPr>
              <a:t>La conception structurée fournit un cadre clair pour la planification, l'exécution et la gestion de projets de développement logiciel.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4419600"/>
            <a:ext cx="2921000" cy="241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75594"/>
                </a:solidFill>
                <a:latin typeface="&quot;Yeseva One&quot;"/>
              </a:rPr>
              <a:t>Décomposition en modules indépendants avec responsabilités définies.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4813300" y="3937000"/>
            <a:ext cx="2921000" cy="275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75594"/>
                </a:solidFill>
                <a:latin typeface="&quot;Yeseva One&quot;"/>
              </a:rPr>
              <a:t>Organisation en couches : présentation, logique métier, accès données, stockage.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8496300" y="3937000"/>
            <a:ext cx="2921000" cy="2070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75594"/>
                </a:solidFill>
                <a:latin typeface="&quot;Yeseva One&quot;"/>
              </a:rPr>
              <a:t>Minimise les dépendances via interfaces bien définies.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2179300" y="3467100"/>
            <a:ext cx="2921000" cy="172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75594"/>
                </a:solidFill>
                <a:latin typeface="&quot;Yeseva One&quot;"/>
              </a:rPr>
              <a:t>Composants génériques réutilisables, réduit coûts et temps.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"/>
          <a:srcRect t="24000" b="24000"/>
          <a:stretch>
            <a:fillRect/>
          </a:stretch>
        </p:blipFill>
        <p:spPr>
          <a:xfrm>
            <a:off x="1384300" y="2032000"/>
            <a:ext cx="241300" cy="127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3"/>
          <a:srcRect t="28000" b="28000"/>
          <a:stretch>
            <a:fillRect/>
          </a:stretch>
        </p:blipFill>
        <p:spPr>
          <a:xfrm>
            <a:off x="5054600" y="2032000"/>
            <a:ext cx="279400" cy="1270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rcRect t="24000" b="24000"/>
          <a:stretch>
            <a:fillRect/>
          </a:stretch>
        </p:blipFill>
        <p:spPr>
          <a:xfrm>
            <a:off x="8750300" y="2032000"/>
            <a:ext cx="241300" cy="1270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5"/>
          <a:srcRect t="24000" b="24000"/>
          <a:stretch>
            <a:fillRect/>
          </a:stretch>
        </p:blipFill>
        <p:spPr>
          <a:xfrm>
            <a:off x="12433300" y="2032000"/>
            <a:ext cx="24130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4813300"/>
            <a:ext cx="9283700" cy="2489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4813300"/>
            <a:ext cx="9283700" cy="2489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876300" y="4813300"/>
            <a:ext cx="558800" cy="3429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876300" y="7480300"/>
            <a:ext cx="12700" cy="10414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TextBox 8" id="8"/>
          <p:cNvSpPr txBox="true"/>
          <p:nvPr/>
        </p:nvSpPr>
        <p:spPr>
          <a:xfrm>
            <a:off x="876300" y="419100"/>
            <a:ext cx="9283700" cy="298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Organigrammes dans le Développement Logiciel</a:t>
            </a:r>
            <a:endParaRPr lang="en-US" sz="1100"/>
          </a:p>
        </p:txBody>
      </p:sp>
      <p:sp>
        <p:nvSpPr>
          <p:cNvPr name="TextBox 9" id="9"/>
          <p:cNvSpPr txBox="true"/>
          <p:nvPr/>
        </p:nvSpPr>
        <p:spPr>
          <a:xfrm>
            <a:off x="1092200" y="4864100"/>
            <a:ext cx="3048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1500" b="tru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</a:t>
            </a:r>
            <a:endParaRPr lang="en-US" sz="1100"/>
          </a:p>
        </p:txBody>
      </p:sp>
      <p:sp>
        <p:nvSpPr>
          <p:cNvPr name="TextBox 10" id="10"/>
          <p:cNvSpPr txBox="true"/>
          <p:nvPr/>
        </p:nvSpPr>
        <p:spPr>
          <a:xfrm>
            <a:off x="876300" y="3581400"/>
            <a:ext cx="92837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Représentation visuelle des étapes séquentielles d'un processus montrant le parcours logique.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943100" y="4864100"/>
            <a:ext cx="82169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Visualisation des workflows complexes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1943100" y="5334000"/>
            <a:ext cx="82169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Documentation algorithmes et logique métier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943100" y="6146800"/>
            <a:ext cx="82169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Identification des goulots d'étranglement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943100" y="6604000"/>
            <a:ext cx="82169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Communication entre équipes techniques/non-techniques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7480300"/>
            <a:ext cx="90297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"Les organigrammes transforment un casse-tête hiérarchique en structure organisationnelle claire et visuelle."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574800" y="4914900"/>
            <a:ext cx="2413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2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574800" y="5372100"/>
            <a:ext cx="2413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2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574800" y="6184900"/>
            <a:ext cx="2413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2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574800" y="6654800"/>
            <a:ext cx="241300" cy="15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>
              <a:lnSpc>
                <a:spcPct val="100000"/>
              </a:lnSpc>
              <a:defRPr/>
            </a:pPr>
            <a:r>
              <a:rPr lang="en-US"/>
              <a:t/>
            </a:r>
            <a:r>
              <a:rPr lang="en-US" sz="1200" b="false">
                <a:solidFill>
                  <a:srgbClr val="075594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2476500"/>
            <a:ext cx="14490700" cy="6146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2476500"/>
            <a:ext cx="3429000" cy="3784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231900" y="26670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4559300" y="2476500"/>
            <a:ext cx="3429000" cy="3784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4914900" y="26670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8242300" y="2476500"/>
            <a:ext cx="3429000" cy="3784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8597900" y="26670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11938000" y="2476500"/>
            <a:ext cx="3429000" cy="3784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12280900" y="26670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75594"/>
          </a:solidFill>
        </p:spPr>
      </p:sp>
      <p:sp>
        <p:nvSpPr>
          <p:cNvPr name="AutoShape 12" id="12"/>
          <p:cNvSpPr/>
          <p:nvPr/>
        </p:nvSpPr>
        <p:spPr>
          <a:xfrm>
            <a:off x="876300" y="6451600"/>
            <a:ext cx="14490700" cy="21717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3" id="13"/>
          <p:cNvSpPr/>
          <p:nvPr/>
        </p:nvSpPr>
        <p:spPr>
          <a:xfrm>
            <a:off x="1231900" y="6642100"/>
            <a:ext cx="546100" cy="546100"/>
          </a:xfrm>
          <a:prstGeom prst="roundRect">
            <a:avLst>
              <a:gd name="adj" fmla="val 48837"/>
            </a:avLst>
          </a:prstGeom>
          <a:solidFill>
            <a:srgbClr val="075594"/>
          </a:solidFill>
        </p:spPr>
      </p:sp>
      <p:sp>
        <p:nvSpPr>
          <p:cNvPr name="TextBox 14" id="14"/>
          <p:cNvSpPr txBox="true"/>
          <p:nvPr/>
        </p:nvSpPr>
        <p:spPr>
          <a:xfrm>
            <a:off x="876300" y="495300"/>
            <a:ext cx="14490700" cy="176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Symboles Essentiels des Organigrammes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3403600"/>
            <a:ext cx="29210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Début / Fin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4813300" y="3403600"/>
            <a:ext cx="2921000" cy="199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Processus / Tâche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8496300" y="3403600"/>
            <a:ext cx="29210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Décision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2179300" y="3403600"/>
            <a:ext cx="2921000" cy="1993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Flux / Connexion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130300" y="7378700"/>
            <a:ext cx="7366000" cy="660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800" b="true">
                <a:solidFill>
                  <a:srgbClr val="075594"/>
                </a:solidFill>
                <a:latin typeface="&quot;Yeseva One&quot;"/>
              </a:rPr>
              <a:t>Données / Stockage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30300" y="4864100"/>
            <a:ext cx="2921000" cy="82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75594"/>
                </a:solidFill>
                <a:latin typeface="&quot;Yeseva One&quot;"/>
              </a:rPr>
              <a:t>Ovales marquant le départ et la fin du processus.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4813300" y="5524500"/>
            <a:ext cx="29210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75594"/>
                </a:solidFill>
                <a:latin typeface="&quot;Yeseva One&quot;"/>
              </a:rPr>
              <a:t>Rectangles pour tâches et opérations.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8496300" y="4864100"/>
            <a:ext cx="29210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75594"/>
                </a:solidFill>
                <a:latin typeface="&quot;Yeseva One&quot;"/>
              </a:rPr>
              <a:t>Losanges pour points de décision critiques.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2179300" y="5524500"/>
            <a:ext cx="29210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75594"/>
                </a:solidFill>
                <a:latin typeface="&quot;Yeseva One&quot;"/>
              </a:rPr>
              <a:t>Flèches indiquant direction et séquence.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130300" y="8166100"/>
            <a:ext cx="7366000" cy="266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400" b="true">
                <a:solidFill>
                  <a:srgbClr val="075594"/>
                </a:solidFill>
                <a:latin typeface="&quot;Yeseva One&quot;"/>
              </a:rPr>
              <a:t>Parallélogrammes (I/O) et cylindres (bases de données).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/>
          <a:srcRect t="14000" b="14000"/>
          <a:stretch>
            <a:fillRect/>
          </a:stretch>
        </p:blipFill>
        <p:spPr>
          <a:xfrm>
            <a:off x="1384300" y="2844800"/>
            <a:ext cx="241300" cy="1778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5080000" y="2844800"/>
            <a:ext cx="215900" cy="177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"/>
          <a:srcRect t="14000" b="14000"/>
          <a:stretch>
            <a:fillRect/>
          </a:stretch>
        </p:blipFill>
        <p:spPr>
          <a:xfrm>
            <a:off x="8750300" y="2844800"/>
            <a:ext cx="241300" cy="1778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5"/>
          <a:srcRect t="9000" b="9000"/>
          <a:stretch>
            <a:fillRect/>
          </a:stretch>
        </p:blipFill>
        <p:spPr>
          <a:xfrm>
            <a:off x="12458700" y="2844800"/>
            <a:ext cx="215900" cy="1778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6"/>
          <a:srcRect t="9000" b="9000"/>
          <a:stretch>
            <a:fillRect/>
          </a:stretch>
        </p:blipFill>
        <p:spPr>
          <a:xfrm>
            <a:off x="1397000" y="6819900"/>
            <a:ext cx="2159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1778000"/>
            <a:ext cx="14490700" cy="6438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1778000"/>
            <a:ext cx="3429000" cy="64389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130300" y="203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4559300" y="1778000"/>
            <a:ext cx="3429000" cy="64389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4813300" y="203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8242300" y="1778000"/>
            <a:ext cx="3429000" cy="64389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8496300" y="203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11938000" y="1778000"/>
            <a:ext cx="3429000" cy="64389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12179300" y="2032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TextBox 12" id="12"/>
          <p:cNvSpPr txBox="true"/>
          <p:nvPr/>
        </p:nvSpPr>
        <p:spPr>
          <a:xfrm>
            <a:off x="876300" y="9017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75594"/>
                </a:solidFill>
                <a:latin typeface="&quot;Yeseva One&quot;"/>
              </a:rPr>
              <a:t>Comparaison des Outils de Modélisation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130300" y="3048000"/>
            <a:ext cx="29210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DFD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4813300" y="3048000"/>
            <a:ext cx="2921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Dictionnaire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8496300" y="3048000"/>
            <a:ext cx="2921000" cy="67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Contexte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2179300" y="3048000"/>
            <a:ext cx="29210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Organigrammes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3898900"/>
            <a:ext cx="2921000" cy="396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Visualise flux d'informations et transformations. Idéal pour analyse de sécurité.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4813300" y="4584700"/>
            <a:ext cx="29210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Standardise éléments de données. Facilite communication équipes.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496300" y="3898900"/>
            <a:ext cx="29210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Définit limites système. Vue d'ensemble claire.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2179300" y="4584700"/>
            <a:ext cx="2921000" cy="283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Documente processus séquentiels et logique décisionnelle.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/>
          <a:srcRect t="7000" b="7000"/>
          <a:stretch>
            <a:fillRect/>
          </a:stretch>
        </p:blipFill>
        <p:spPr>
          <a:xfrm>
            <a:off x="1358900" y="2286000"/>
            <a:ext cx="279400" cy="241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5080000" y="2286000"/>
            <a:ext cx="215900" cy="2413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t="7000" b="7000"/>
          <a:stretch>
            <a:fillRect/>
          </a:stretch>
        </p:blipFill>
        <p:spPr>
          <a:xfrm>
            <a:off x="8737600" y="2286000"/>
            <a:ext cx="279400" cy="241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l="6000" r="6000"/>
          <a:stretch>
            <a:fillRect/>
          </a:stretch>
        </p:blipFill>
        <p:spPr>
          <a:xfrm>
            <a:off x="12458700" y="2286000"/>
            <a:ext cx="2159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TextBox 3" id="3"/>
          <p:cNvSpPr txBox="true"/>
          <p:nvPr/>
        </p:nvSpPr>
        <p:spPr>
          <a:xfrm>
            <a:off x="876300" y="38608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075594"/>
                </a:solidFill>
                <a:latin typeface="&quot;Yeseva One&quot;"/>
              </a:rPr>
              <a:t>Partie 2 : DevOps et Scrum</a:t>
            </a:r>
            <a:endParaRPr lang="en-US" sz="1100"/>
          </a:p>
        </p:txBody>
      </p:sp>
      <p:sp>
        <p:nvSpPr>
          <p:cNvPr name="TextBox 4" id="4"/>
          <p:cNvSpPr txBox="true"/>
          <p:nvPr/>
        </p:nvSpPr>
        <p:spPr>
          <a:xfrm>
            <a:off x="876300" y="49022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Méthodologies agiles et collaboration moderne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295400"/>
            <a:ext cx="9283700" cy="7264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295400"/>
            <a:ext cx="2921000" cy="4673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6" id="6"/>
          <p:cNvSpPr/>
          <p:nvPr/>
        </p:nvSpPr>
        <p:spPr>
          <a:xfrm>
            <a:off x="1193800" y="149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7" id="7"/>
          <p:cNvSpPr/>
          <p:nvPr/>
        </p:nvSpPr>
        <p:spPr>
          <a:xfrm>
            <a:off x="4051300" y="1295400"/>
            <a:ext cx="2921000" cy="4673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8" id="8"/>
          <p:cNvSpPr/>
          <p:nvPr/>
        </p:nvSpPr>
        <p:spPr>
          <a:xfrm>
            <a:off x="4381500" y="149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9" id="9"/>
          <p:cNvSpPr/>
          <p:nvPr/>
        </p:nvSpPr>
        <p:spPr>
          <a:xfrm>
            <a:off x="7239000" y="1295400"/>
            <a:ext cx="2921000" cy="4673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0" id="10"/>
          <p:cNvSpPr/>
          <p:nvPr/>
        </p:nvSpPr>
        <p:spPr>
          <a:xfrm>
            <a:off x="7556500" y="1498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11" id="11"/>
          <p:cNvSpPr/>
          <p:nvPr/>
        </p:nvSpPr>
        <p:spPr>
          <a:xfrm>
            <a:off x="876300" y="6184900"/>
            <a:ext cx="9283700" cy="23749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2" id="12"/>
          <p:cNvSpPr/>
          <p:nvPr/>
        </p:nvSpPr>
        <p:spPr>
          <a:xfrm>
            <a:off x="1193800" y="63881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558800"/>
            <a:ext cx="9283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200" b="true">
                <a:solidFill>
                  <a:srgbClr val="075594"/>
                </a:solidFill>
                <a:latin typeface="&quot;Yeseva One&quot;"/>
              </a:rPr>
              <a:t>Introduction à DevOps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2324100"/>
            <a:ext cx="24130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Qu'est-ce que DevOps ?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305300" y="2324100"/>
            <a:ext cx="24130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Collaboration Dev-Ops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7493000" y="2324100"/>
            <a:ext cx="24130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Intégration Continue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7226300"/>
            <a:ext cx="8775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Amélioration Continue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3594100"/>
            <a:ext cx="24130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Culture, pratiques et outils qui augmentent la capacité à livrer des applications et services rapidement.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4305300" y="3225800"/>
            <a:ext cx="24130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Unification du développement (Dev) et des opérations (Ops) pour raccourcir le cycle de développement.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7493000" y="3225800"/>
            <a:ext cx="2413000" cy="185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Automatisation des tests et du déploiement pour livrer des mises à jour fréquentes et fiables.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7734300"/>
            <a:ext cx="8775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Surveillance, feedback et optimisation constante des processus et performances.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t="17000" b="17000"/>
          <a:stretch>
            <a:fillRect/>
          </a:stretch>
        </p:blipFill>
        <p:spPr>
          <a:xfrm>
            <a:off x="1346200" y="1714500"/>
            <a:ext cx="304800" cy="20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t="17000" b="17000"/>
          <a:stretch>
            <a:fillRect/>
          </a:stretch>
        </p:blipFill>
        <p:spPr>
          <a:xfrm>
            <a:off x="4533900" y="1714500"/>
            <a:ext cx="304800" cy="203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5"/>
          <a:srcRect t="8000" b="8000"/>
          <a:stretch>
            <a:fillRect/>
          </a:stretch>
        </p:blipFill>
        <p:spPr>
          <a:xfrm>
            <a:off x="7747000" y="1714500"/>
            <a:ext cx="241300" cy="203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6"/>
          <a:srcRect t="8000" b="8000"/>
          <a:stretch>
            <a:fillRect/>
          </a:stretch>
        </p:blipFill>
        <p:spPr>
          <a:xfrm>
            <a:off x="1384300" y="6604000"/>
            <a:ext cx="2413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32000" b="32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name="TextBox 5" id="5"/>
          <p:cNvSpPr txBox="true"/>
          <p:nvPr/>
        </p:nvSpPr>
        <p:spPr>
          <a:xfrm>
            <a:off x="876300" y="609600"/>
            <a:ext cx="14490700" cy="2667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8100" b="true">
                <a:solidFill>
                  <a:srgbClr val="075594"/>
                </a:solidFill>
                <a:latin typeface="&quot;Yeseva One&quot;"/>
              </a:rPr>
              <a:t>Merci de Votre Attention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76300" y="3517900"/>
            <a:ext cx="14490700" cy="4991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6000" b="true">
                <a:solidFill>
                  <a:srgbClr val="075594"/>
                </a:solidFill>
                <a:latin typeface="&quot;Yeseva One&quot;"/>
              </a:rPr>
              <a:t>La maîtrise des outils de conception et des méthodologies agiles est essentielle pour créer des logiciels modernes de qualité.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1320800"/>
            <a:ext cx="14490700" cy="7226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1320800"/>
            <a:ext cx="3429000" cy="4546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193800" y="1536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4559300" y="1320800"/>
            <a:ext cx="3429000" cy="4546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4876800" y="1536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8242300" y="1320800"/>
            <a:ext cx="3429000" cy="4546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8559800" y="1536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11938000" y="1320800"/>
            <a:ext cx="3429000" cy="45466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12242800" y="1536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12" id="12"/>
          <p:cNvSpPr/>
          <p:nvPr/>
        </p:nvSpPr>
        <p:spPr>
          <a:xfrm>
            <a:off x="876300" y="6096000"/>
            <a:ext cx="14490700" cy="2463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3" id="13"/>
          <p:cNvSpPr/>
          <p:nvPr/>
        </p:nvSpPr>
        <p:spPr>
          <a:xfrm>
            <a:off x="1193800" y="6299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TextBox 14" id="14"/>
          <p:cNvSpPr txBox="true"/>
          <p:nvPr/>
        </p:nvSpPr>
        <p:spPr>
          <a:xfrm>
            <a:off x="876300" y="571500"/>
            <a:ext cx="14490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300" b="true">
                <a:solidFill>
                  <a:srgbClr val="075594"/>
                </a:solidFill>
                <a:latin typeface="&quot;Yeseva One&quot;"/>
              </a:rPr>
              <a:t>Les Événements Scrum (Cérémonies)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435100" y="16891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000" b="true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&quot;Yeseva One&quot;"/>
              </a:rPr>
              <a:t>1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30300" y="23749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1. Sprint Planning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4813300" y="23749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2. Daily Scrum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8496300" y="23749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3. Sprint Review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12179300" y="2374900"/>
            <a:ext cx="2921000" cy="170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4. Retrospective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1130300" y="7150100"/>
            <a:ext cx="48260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5. Sprint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3670300"/>
            <a:ext cx="29210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Planification des tâches (4-8h)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4813300" y="3670300"/>
            <a:ext cx="29210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Synchronisation quotidienne (15 min)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8496300" y="3670300"/>
            <a:ext cx="29210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Démonstration fonctionnalités (2-4h)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2179300" y="4241800"/>
            <a:ext cx="2921000" cy="1422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Amélioration processus (1.5-3h)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30300" y="7874000"/>
            <a:ext cx="48260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Itération de 1-4 semaines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"/>
          <a:srcRect t="17000" b="17000"/>
          <a:stretch>
            <a:fillRect/>
          </a:stretch>
        </p:blipFill>
        <p:spPr>
          <a:xfrm>
            <a:off x="5029200" y="1739900"/>
            <a:ext cx="304800" cy="203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8750300" y="1739900"/>
            <a:ext cx="241300" cy="2032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12433300" y="1739900"/>
            <a:ext cx="241300" cy="203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3"/>
          <a:srcRect t="8000" b="8000"/>
          <a:stretch>
            <a:fillRect/>
          </a:stretch>
        </p:blipFill>
        <p:spPr>
          <a:xfrm>
            <a:off x="1384300" y="6515100"/>
            <a:ext cx="2413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2781300"/>
            <a:ext cx="14490700" cy="5778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102600" y="2781300"/>
            <a:ext cx="12700" cy="57785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5" id="5"/>
          <p:cNvSpPr/>
          <p:nvPr/>
        </p:nvSpPr>
        <p:spPr>
          <a:xfrm>
            <a:off x="876300" y="2781300"/>
            <a:ext cx="7239000" cy="1651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7835900" y="2781300"/>
            <a:ext cx="558800" cy="457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7112000" y="2997200"/>
            <a:ext cx="749300" cy="127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876300" y="2844800"/>
            <a:ext cx="59817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8115300" y="2781300"/>
            <a:ext cx="7239000" cy="1651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7835900" y="2781300"/>
            <a:ext cx="558800" cy="457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8382000" y="2997200"/>
            <a:ext cx="749300" cy="127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AutoShape 12" id="12"/>
          <p:cNvSpPr/>
          <p:nvPr/>
        </p:nvSpPr>
        <p:spPr>
          <a:xfrm>
            <a:off x="9385300" y="2844800"/>
            <a:ext cx="59817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3" id="13"/>
          <p:cNvSpPr/>
          <p:nvPr/>
        </p:nvSpPr>
        <p:spPr>
          <a:xfrm>
            <a:off x="876300" y="4851400"/>
            <a:ext cx="7239000" cy="1651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4" id="14"/>
          <p:cNvSpPr/>
          <p:nvPr/>
        </p:nvSpPr>
        <p:spPr>
          <a:xfrm>
            <a:off x="7835900" y="4851400"/>
            <a:ext cx="558800" cy="457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5" id="15"/>
          <p:cNvSpPr/>
          <p:nvPr/>
        </p:nvSpPr>
        <p:spPr>
          <a:xfrm>
            <a:off x="7112000" y="5067300"/>
            <a:ext cx="749300" cy="127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AutoShape 16" id="16"/>
          <p:cNvSpPr/>
          <p:nvPr/>
        </p:nvSpPr>
        <p:spPr>
          <a:xfrm>
            <a:off x="876300" y="4914900"/>
            <a:ext cx="59817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7" id="17"/>
          <p:cNvSpPr/>
          <p:nvPr/>
        </p:nvSpPr>
        <p:spPr>
          <a:xfrm>
            <a:off x="8115300" y="4851400"/>
            <a:ext cx="7239000" cy="1651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8" id="18"/>
          <p:cNvSpPr/>
          <p:nvPr/>
        </p:nvSpPr>
        <p:spPr>
          <a:xfrm>
            <a:off x="7835900" y="4851400"/>
            <a:ext cx="558800" cy="457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9" id="19"/>
          <p:cNvSpPr/>
          <p:nvPr/>
        </p:nvSpPr>
        <p:spPr>
          <a:xfrm>
            <a:off x="8382000" y="5067300"/>
            <a:ext cx="749300" cy="127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AutoShape 20" id="20"/>
          <p:cNvSpPr/>
          <p:nvPr/>
        </p:nvSpPr>
        <p:spPr>
          <a:xfrm>
            <a:off x="9385300" y="4914900"/>
            <a:ext cx="5981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1" id="21"/>
          <p:cNvSpPr/>
          <p:nvPr/>
        </p:nvSpPr>
        <p:spPr>
          <a:xfrm>
            <a:off x="876300" y="6908800"/>
            <a:ext cx="7239000" cy="1651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22" id="22"/>
          <p:cNvSpPr/>
          <p:nvPr/>
        </p:nvSpPr>
        <p:spPr>
          <a:xfrm>
            <a:off x="7835900" y="6908800"/>
            <a:ext cx="558800" cy="457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23" id="23"/>
          <p:cNvSpPr/>
          <p:nvPr/>
        </p:nvSpPr>
        <p:spPr>
          <a:xfrm>
            <a:off x="7112000" y="7137400"/>
            <a:ext cx="749300" cy="12700"/>
          </a:xfrm>
          <a:prstGeom prst="rect">
            <a:avLst/>
          </a:prstGeom>
          <a:solidFill>
            <a:srgbClr val="075594"/>
          </a:solidFill>
        </p:spPr>
      </p:sp>
      <p:sp>
        <p:nvSpPr>
          <p:cNvPr name="AutoShape 24" id="24"/>
          <p:cNvSpPr/>
          <p:nvPr/>
        </p:nvSpPr>
        <p:spPr>
          <a:xfrm>
            <a:off x="876300" y="6985000"/>
            <a:ext cx="5981700" cy="1320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TextBox 25" id="25"/>
          <p:cNvSpPr txBox="true"/>
          <p:nvPr/>
        </p:nvSpPr>
        <p:spPr>
          <a:xfrm>
            <a:off x="876300" y="558800"/>
            <a:ext cx="14490700" cy="1981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6400" b="true">
                <a:solidFill>
                  <a:srgbClr val="075594"/>
                </a:solidFill>
                <a:latin typeface="&quot;Yeseva One&quot;"/>
              </a:rPr>
              <a:t>Les Événements Scrum (Cérémonies)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876300" y="2844800"/>
            <a:ext cx="5981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3498DB"/>
                </a:solidFill>
                <a:latin typeface="&quot;Yeseva One&quot;"/>
              </a:rPr>
              <a:t>Sprint Planning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9385300" y="2844800"/>
            <a:ext cx="5981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3498DB"/>
                </a:solidFill>
                <a:latin typeface="&quot;Yeseva One&quot;"/>
              </a:rPr>
              <a:t>Daily Scrum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876300" y="4914900"/>
            <a:ext cx="5981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3498DB"/>
                </a:solidFill>
                <a:latin typeface="&quot;Yeseva One&quot;"/>
              </a:rPr>
              <a:t>Sprint Review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9385300" y="4914900"/>
            <a:ext cx="5981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3498DB"/>
                </a:solidFill>
                <a:latin typeface="&quot;Yeseva One&quot;"/>
              </a:rPr>
              <a:t>Sprint Retrospective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876300" y="6985000"/>
            <a:ext cx="5981700" cy="546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3498DB"/>
                </a:solidFill>
                <a:latin typeface="&quot;Yeseva One&quot;"/>
              </a:rPr>
              <a:t>Sprint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876300" y="3556000"/>
            <a:ext cx="5981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Planification des tâches du sprint (4-8h pour sprint d'un mois)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9385300" y="3556000"/>
            <a:ext cx="5981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Réunion quotidienne de 15 minutes pour synchronisation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876300" y="5626100"/>
            <a:ext cx="5981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Démonstration des fonctionnalités complétées (2-4h)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9385300" y="5626100"/>
            <a:ext cx="59817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Analyse d'amélioration de processus (1.5-3h)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876300" y="7683500"/>
            <a:ext cx="59817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Itération de 1 à 4 semaines produisant un incrément</a:t>
            </a:r>
            <a:endParaRPr lang="en-US" sz="1100"/>
          </a:p>
        </p:txBody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2"/>
          <a:srcRect t="3000" b="3000"/>
          <a:stretch>
            <a:fillRect/>
          </a:stretch>
        </p:blipFill>
        <p:spPr>
          <a:xfrm>
            <a:off x="8013700" y="2908300"/>
            <a:ext cx="215900" cy="2032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3"/>
          <a:srcRect t="17000" b="17000"/>
          <a:stretch>
            <a:fillRect/>
          </a:stretch>
        </p:blipFill>
        <p:spPr>
          <a:xfrm>
            <a:off x="7962900" y="2908300"/>
            <a:ext cx="304800" cy="2032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4"/>
          <a:srcRect t="8000" b="8000"/>
          <a:stretch>
            <a:fillRect/>
          </a:stretch>
        </p:blipFill>
        <p:spPr>
          <a:xfrm>
            <a:off x="8001000" y="4978400"/>
            <a:ext cx="241300" cy="2032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4"/>
          <a:srcRect t="8000" b="8000"/>
          <a:stretch>
            <a:fillRect/>
          </a:stretch>
        </p:blipFill>
        <p:spPr>
          <a:xfrm>
            <a:off x="8001000" y="4978400"/>
            <a:ext cx="241300" cy="203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"/>
          <a:srcRect t="8000" b="8000"/>
          <a:stretch>
            <a:fillRect/>
          </a:stretch>
        </p:blipFill>
        <p:spPr>
          <a:xfrm>
            <a:off x="8001000" y="7048500"/>
            <a:ext cx="2413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2159000"/>
            <a:ext cx="14490700" cy="4495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2159000"/>
            <a:ext cx="4660900" cy="4495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130300" y="2413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5791200" y="2159000"/>
            <a:ext cx="4660900" cy="4495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6045200" y="2413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10706100" y="2159000"/>
            <a:ext cx="4660900" cy="4495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10960100" y="24130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75594"/>
          </a:solidFill>
        </p:spPr>
      </p:sp>
      <p:sp>
        <p:nvSpPr>
          <p:cNvPr name="TextBox 10" id="10"/>
          <p:cNvSpPr txBox="true"/>
          <p:nvPr/>
        </p:nvSpPr>
        <p:spPr>
          <a:xfrm>
            <a:off x="876300" y="1270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900" b="true">
                <a:solidFill>
                  <a:srgbClr val="075594"/>
                </a:solidFill>
                <a:latin typeface="&quot;Yeseva One&quot;"/>
              </a:rPr>
              <a:t>Les 3 Rôles Clés de Scrum</a:t>
            </a:r>
            <a:endParaRPr lang="en-US" sz="1100"/>
          </a:p>
        </p:txBody>
      </p:sp>
      <p:sp>
        <p:nvSpPr>
          <p:cNvPr name="TextBox 11" id="11"/>
          <p:cNvSpPr txBox="true"/>
          <p:nvPr/>
        </p:nvSpPr>
        <p:spPr>
          <a:xfrm>
            <a:off x="1130300" y="3429000"/>
            <a:ext cx="41529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Product Owner</a:t>
            </a:r>
            <a:endParaRPr lang="en-US" sz="1100"/>
          </a:p>
        </p:txBody>
      </p:sp>
      <p:sp>
        <p:nvSpPr>
          <p:cNvPr name="TextBox 12" id="12"/>
          <p:cNvSpPr txBox="true"/>
          <p:nvPr/>
        </p:nvSpPr>
        <p:spPr>
          <a:xfrm>
            <a:off x="6045200" y="3429000"/>
            <a:ext cx="4152900" cy="457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Scrum Master</a:t>
            </a:r>
            <a:endParaRPr lang="en-US" sz="1100"/>
          </a:p>
        </p:txBody>
      </p:sp>
      <p:sp>
        <p:nvSpPr>
          <p:cNvPr name="TextBox 13" id="13"/>
          <p:cNvSpPr txBox="true"/>
          <p:nvPr/>
        </p:nvSpPr>
        <p:spPr>
          <a:xfrm>
            <a:off x="10960100" y="3429000"/>
            <a:ext cx="4152900" cy="91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3498DB"/>
                </a:solidFill>
                <a:latin typeface="Poppins"/>
              </a:rPr>
              <a:t>Équipe de Développement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76300" y="6946900"/>
            <a:ext cx="144907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Ces trois rôles travaillent en synergie pour créer de la valeur de manière itérative et incrémentale.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30300" y="40640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Responsable de la vision produit et de la priorisation du backlog. Maximise la valeur délivrée et représente les parties prenantes.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6045200" y="40640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Facilitateur et coach de l'équipe. Élimine les obstacles, assure le respect du framework Scrum et favorise l'amélioration continue.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0960100" y="45212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3 à 9 professionnels auto-organisés et pluridisciplinaires. Transforment le backlog en incréments de produit potentiellement livrables.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2"/>
          <a:srcRect l="6000" r="6000"/>
          <a:stretch>
            <a:fillRect/>
          </a:stretch>
        </p:blipFill>
        <p:spPr>
          <a:xfrm>
            <a:off x="1397000" y="2667000"/>
            <a:ext cx="215900" cy="241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6261100" y="2667000"/>
            <a:ext cx="304800" cy="241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11176000" y="26670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1000" b="1000"/>
          <a:stretch>
            <a:fillRect/>
          </a:stretch>
        </p:blipFill>
        <p:spPr>
          <a:xfrm>
            <a:off x="11049000" y="0"/>
            <a:ext cx="51943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876300" y="1828800"/>
            <a:ext cx="9283700" cy="6718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76300" y="1828800"/>
            <a:ext cx="2921000" cy="4394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6" id="6"/>
          <p:cNvSpPr/>
          <p:nvPr/>
        </p:nvSpPr>
        <p:spPr>
          <a:xfrm>
            <a:off x="1193800" y="2044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7" id="7"/>
          <p:cNvSpPr/>
          <p:nvPr/>
        </p:nvSpPr>
        <p:spPr>
          <a:xfrm>
            <a:off x="4051300" y="1828800"/>
            <a:ext cx="2921000" cy="4394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8" id="8"/>
          <p:cNvSpPr/>
          <p:nvPr/>
        </p:nvSpPr>
        <p:spPr>
          <a:xfrm>
            <a:off x="4368800" y="2044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9" id="9"/>
          <p:cNvSpPr/>
          <p:nvPr/>
        </p:nvSpPr>
        <p:spPr>
          <a:xfrm>
            <a:off x="7239000" y="1828800"/>
            <a:ext cx="2921000" cy="4394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0" id="10"/>
          <p:cNvSpPr/>
          <p:nvPr/>
        </p:nvSpPr>
        <p:spPr>
          <a:xfrm>
            <a:off x="7543800" y="20447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AutoShape 11" id="11"/>
          <p:cNvSpPr/>
          <p:nvPr/>
        </p:nvSpPr>
        <p:spPr>
          <a:xfrm>
            <a:off x="876300" y="6438900"/>
            <a:ext cx="9283700" cy="2108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2" id="12"/>
          <p:cNvSpPr/>
          <p:nvPr/>
        </p:nvSpPr>
        <p:spPr>
          <a:xfrm>
            <a:off x="1193800" y="66548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75594"/>
          </a:solidFill>
        </p:spPr>
      </p:sp>
      <p:sp>
        <p:nvSpPr>
          <p:cNvPr name="TextBox 13" id="13"/>
          <p:cNvSpPr txBox="true"/>
          <p:nvPr/>
        </p:nvSpPr>
        <p:spPr>
          <a:xfrm>
            <a:off x="876300" y="571500"/>
            <a:ext cx="92837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300" b="true">
                <a:solidFill>
                  <a:srgbClr val="075594"/>
                </a:solidFill>
                <a:latin typeface="&quot;Yeseva One&quot;"/>
              </a:rPr>
              <a:t>Introduction à la Méthodologie Scrum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1130300" y="28829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Framework Agile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4305300" y="28829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Sprints Itératifs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7493000" y="2882900"/>
            <a:ext cx="24130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Transparence Totale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30300" y="7493000"/>
            <a:ext cx="80518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Adaptabilité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30300" y="3797300"/>
            <a:ext cx="2413000" cy="220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Cadre de gestion de projet permettant de développer des produits complexes de manière itérative.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4305300" y="3797300"/>
            <a:ext cx="2413000" cy="1892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Cycles de développement courts (1-4 semaines) pour livraisons régulières.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7493000" y="3797300"/>
            <a:ext cx="2413000" cy="157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Visibilité complète sur l'avancement grâce aux cérémonies et artefacts.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1130300" y="8026400"/>
            <a:ext cx="8051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Capacité à s'adapter rapidement aux changements de priorités.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3"/>
          <a:srcRect t="17000" b="17000"/>
          <a:stretch>
            <a:fillRect/>
          </a:stretch>
        </p:blipFill>
        <p:spPr>
          <a:xfrm>
            <a:off x="1346200" y="2247900"/>
            <a:ext cx="304800" cy="203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"/>
          <a:srcRect t="3000" b="3000"/>
          <a:stretch>
            <a:fillRect/>
          </a:stretch>
        </p:blipFill>
        <p:spPr>
          <a:xfrm>
            <a:off x="4572000" y="2247900"/>
            <a:ext cx="215900" cy="203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rcRect t="8000" b="8000"/>
          <a:stretch>
            <a:fillRect/>
          </a:stretch>
        </p:blipFill>
        <p:spPr>
          <a:xfrm>
            <a:off x="7747000" y="2247900"/>
            <a:ext cx="241300" cy="2032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"/>
          <a:srcRect t="8000" b="8000"/>
          <a:stretch>
            <a:fillRect/>
          </a:stretch>
        </p:blipFill>
        <p:spPr>
          <a:xfrm>
            <a:off x="1384300" y="6858000"/>
            <a:ext cx="2413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1130300"/>
            <a:ext cx="14490700" cy="3886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876300" y="1130300"/>
            <a:ext cx="3429000" cy="3886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5" id="5"/>
          <p:cNvSpPr/>
          <p:nvPr/>
        </p:nvSpPr>
        <p:spPr>
          <a:xfrm>
            <a:off x="1231900" y="1308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6" id="6"/>
          <p:cNvSpPr/>
          <p:nvPr/>
        </p:nvSpPr>
        <p:spPr>
          <a:xfrm>
            <a:off x="4559300" y="1130300"/>
            <a:ext cx="3429000" cy="3886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7" id="7"/>
          <p:cNvSpPr/>
          <p:nvPr/>
        </p:nvSpPr>
        <p:spPr>
          <a:xfrm>
            <a:off x="4914900" y="1308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8" id="8"/>
          <p:cNvSpPr/>
          <p:nvPr/>
        </p:nvSpPr>
        <p:spPr>
          <a:xfrm>
            <a:off x="8242300" y="1130300"/>
            <a:ext cx="3429000" cy="3886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9" id="9"/>
          <p:cNvSpPr/>
          <p:nvPr/>
        </p:nvSpPr>
        <p:spPr>
          <a:xfrm>
            <a:off x="8610600" y="1308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10" id="10"/>
          <p:cNvSpPr/>
          <p:nvPr/>
        </p:nvSpPr>
        <p:spPr>
          <a:xfrm>
            <a:off x="11938000" y="1130300"/>
            <a:ext cx="3429000" cy="38862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1" id="11"/>
          <p:cNvSpPr/>
          <p:nvPr/>
        </p:nvSpPr>
        <p:spPr>
          <a:xfrm>
            <a:off x="12293600" y="13081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12" id="12"/>
          <p:cNvSpPr/>
          <p:nvPr/>
        </p:nvSpPr>
        <p:spPr>
          <a:xfrm>
            <a:off x="876300" y="5156200"/>
            <a:ext cx="14490700" cy="3479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3" id="13"/>
          <p:cNvSpPr/>
          <p:nvPr/>
        </p:nvSpPr>
        <p:spPr>
          <a:xfrm>
            <a:off x="876300" y="5156200"/>
            <a:ext cx="3429000" cy="3479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4" id="14"/>
          <p:cNvSpPr/>
          <p:nvPr/>
        </p:nvSpPr>
        <p:spPr>
          <a:xfrm>
            <a:off x="1231900" y="533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15" id="15"/>
          <p:cNvSpPr/>
          <p:nvPr/>
        </p:nvSpPr>
        <p:spPr>
          <a:xfrm>
            <a:off x="4559300" y="5156200"/>
            <a:ext cx="3429000" cy="3479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6" id="16"/>
          <p:cNvSpPr/>
          <p:nvPr/>
        </p:nvSpPr>
        <p:spPr>
          <a:xfrm>
            <a:off x="4914900" y="533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17" id="17"/>
          <p:cNvSpPr/>
          <p:nvPr/>
        </p:nvSpPr>
        <p:spPr>
          <a:xfrm>
            <a:off x="8242300" y="5156200"/>
            <a:ext cx="3429000" cy="3479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18" id="18"/>
          <p:cNvSpPr/>
          <p:nvPr/>
        </p:nvSpPr>
        <p:spPr>
          <a:xfrm>
            <a:off x="8610600" y="533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AutoShape 19" id="19"/>
          <p:cNvSpPr/>
          <p:nvPr/>
        </p:nvSpPr>
        <p:spPr>
          <a:xfrm>
            <a:off x="11938000" y="5156200"/>
            <a:ext cx="3429000" cy="3479800"/>
          </a:xfrm>
          <a:prstGeom prst="rect">
            <a:avLst/>
          </a:prstGeom>
          <a:solidFill>
            <a:srgbClr val="94C9F4"/>
          </a:solidFill>
        </p:spPr>
      </p:sp>
      <p:sp>
        <p:nvSpPr>
          <p:cNvPr name="AutoShape 20" id="20"/>
          <p:cNvSpPr/>
          <p:nvPr/>
        </p:nvSpPr>
        <p:spPr>
          <a:xfrm>
            <a:off x="12293600" y="53340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075594"/>
          </a:solidFill>
        </p:spPr>
      </p:sp>
      <p:sp>
        <p:nvSpPr>
          <p:cNvPr name="TextBox 21" id="21"/>
          <p:cNvSpPr txBox="true"/>
          <p:nvPr/>
        </p:nvSpPr>
        <p:spPr>
          <a:xfrm>
            <a:off x="876300" y="495300"/>
            <a:ext cx="14490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800" b="true">
                <a:solidFill>
                  <a:srgbClr val="075594"/>
                </a:solidFill>
                <a:latin typeface="&quot;Yeseva One&quot;"/>
              </a:rPr>
              <a:t>Le Cycle DevOps : 8 Phases Clés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1130300" y="2032000"/>
            <a:ext cx="2921000" cy="146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1. Planification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4813300" y="2032000"/>
            <a:ext cx="2921000" cy="146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2. Développement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8496300" y="2032000"/>
            <a:ext cx="2806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3. Tests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2179300" y="2032000"/>
            <a:ext cx="2921000" cy="146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4. Déploiement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130300" y="6057900"/>
            <a:ext cx="2921000" cy="146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5. Exploitation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4813300" y="6057900"/>
            <a:ext cx="2921000" cy="146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6. Surveillance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8496300" y="6057900"/>
            <a:ext cx="2921000" cy="965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7. Feedback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12179300" y="6057900"/>
            <a:ext cx="2921000" cy="146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600" b="true">
                <a:solidFill>
                  <a:srgbClr val="075594"/>
                </a:solidFill>
                <a:latin typeface="&quot;Yeseva One&quot;"/>
              </a:rPr>
              <a:t>8. Amélioration</a:t>
            </a:r>
            <a:endParaRPr lang="en-US" sz="1100"/>
          </a:p>
        </p:txBody>
      </p:sp>
      <p:sp>
        <p:nvSpPr>
          <p:cNvPr name="TextBox 30" id="30"/>
          <p:cNvSpPr txBox="true"/>
          <p:nvPr/>
        </p:nvSpPr>
        <p:spPr>
          <a:xfrm>
            <a:off x="1130300" y="36195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Définir objectifs</a:t>
            </a:r>
            <a:endParaRPr lang="en-US" sz="1100"/>
          </a:p>
        </p:txBody>
      </p:sp>
      <p:sp>
        <p:nvSpPr>
          <p:cNvPr name="TextBox 31" id="31"/>
          <p:cNvSpPr txBox="true"/>
          <p:nvPr/>
        </p:nvSpPr>
        <p:spPr>
          <a:xfrm>
            <a:off x="4813300" y="3619500"/>
            <a:ext cx="2921000" cy="1219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Coder fonctionnalités</a:t>
            </a:r>
            <a:endParaRPr lang="en-US" sz="1100"/>
          </a:p>
        </p:txBody>
      </p:sp>
      <p:sp>
        <p:nvSpPr>
          <p:cNvPr name="TextBox 32" id="32"/>
          <p:cNvSpPr txBox="true"/>
          <p:nvPr/>
        </p:nvSpPr>
        <p:spPr>
          <a:xfrm>
            <a:off x="8496300" y="2641600"/>
            <a:ext cx="2806700" cy="40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Valider qualité</a:t>
            </a:r>
            <a:endParaRPr lang="en-US" sz="1100"/>
          </a:p>
        </p:txBody>
      </p:sp>
      <p:sp>
        <p:nvSpPr>
          <p:cNvPr name="TextBox 33" id="33"/>
          <p:cNvSpPr txBox="true"/>
          <p:nvPr/>
        </p:nvSpPr>
        <p:spPr>
          <a:xfrm>
            <a:off x="12179300" y="36195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Mise en production</a:t>
            </a:r>
            <a:endParaRPr lang="en-US" sz="1100"/>
          </a:p>
        </p:txBody>
      </p:sp>
      <p:sp>
        <p:nvSpPr>
          <p:cNvPr name="TextBox 34" id="34"/>
          <p:cNvSpPr txBox="true"/>
          <p:nvPr/>
        </p:nvSpPr>
        <p:spPr>
          <a:xfrm>
            <a:off x="1130300" y="76454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Gérer production</a:t>
            </a:r>
            <a:endParaRPr lang="en-US" sz="1100"/>
          </a:p>
        </p:txBody>
      </p:sp>
      <p:sp>
        <p:nvSpPr>
          <p:cNvPr name="TextBox 35" id="35"/>
          <p:cNvSpPr txBox="true"/>
          <p:nvPr/>
        </p:nvSpPr>
        <p:spPr>
          <a:xfrm>
            <a:off x="4813300" y="76454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Monitoring continu</a:t>
            </a:r>
            <a:endParaRPr lang="en-US" sz="1100"/>
          </a:p>
        </p:txBody>
      </p:sp>
      <p:sp>
        <p:nvSpPr>
          <p:cNvPr name="TextBox 36" id="36"/>
          <p:cNvSpPr txBox="true"/>
          <p:nvPr/>
        </p:nvSpPr>
        <p:spPr>
          <a:xfrm>
            <a:off x="8496300" y="71628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Retours utilisateurs</a:t>
            </a:r>
            <a:endParaRPr lang="en-US" sz="1100"/>
          </a:p>
        </p:txBody>
      </p:sp>
      <p:sp>
        <p:nvSpPr>
          <p:cNvPr name="TextBox 37" id="37"/>
          <p:cNvSpPr txBox="true"/>
          <p:nvPr/>
        </p:nvSpPr>
        <p:spPr>
          <a:xfrm>
            <a:off x="12179300" y="7645400"/>
            <a:ext cx="2921000" cy="812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2400" b="true">
                <a:solidFill>
                  <a:srgbClr val="075594"/>
                </a:solidFill>
                <a:latin typeface="&quot;Yeseva One&quot;"/>
              </a:rPr>
              <a:t>Optimiser processus</a:t>
            </a:r>
            <a:endParaRPr lang="en-US" sz="1100"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2"/>
          <a:srcRect l="0" r="0"/>
          <a:stretch>
            <a:fillRect/>
          </a:stretch>
        </p:blipFill>
        <p:spPr>
          <a:xfrm>
            <a:off x="1409700" y="1485900"/>
            <a:ext cx="177800" cy="1778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3"/>
          <a:srcRect t="21000" b="21000"/>
          <a:stretch>
            <a:fillRect/>
          </a:stretch>
        </p:blipFill>
        <p:spPr>
          <a:xfrm>
            <a:off x="5029200" y="1485900"/>
            <a:ext cx="304800" cy="1778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4"/>
          <a:srcRect t="14000" b="14000"/>
          <a:stretch>
            <a:fillRect/>
          </a:stretch>
        </p:blipFill>
        <p:spPr>
          <a:xfrm>
            <a:off x="8750300" y="1485900"/>
            <a:ext cx="241300" cy="1778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5"/>
          <a:srcRect t="14000" b="14000"/>
          <a:stretch>
            <a:fillRect/>
          </a:stretch>
        </p:blipFill>
        <p:spPr>
          <a:xfrm>
            <a:off x="12433300" y="1485900"/>
            <a:ext cx="241300" cy="1778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6"/>
          <a:srcRect t="21000" b="21000"/>
          <a:stretch>
            <a:fillRect/>
          </a:stretch>
        </p:blipFill>
        <p:spPr>
          <a:xfrm>
            <a:off x="1346200" y="5511800"/>
            <a:ext cx="304800" cy="1778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7"/>
          <a:srcRect t="19000" b="19000"/>
          <a:stretch>
            <a:fillRect/>
          </a:stretch>
        </p:blipFill>
        <p:spPr>
          <a:xfrm>
            <a:off x="5054600" y="5511800"/>
            <a:ext cx="279400" cy="1778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8"/>
          <a:srcRect t="21000" b="21000"/>
          <a:stretch>
            <a:fillRect/>
          </a:stretch>
        </p:blipFill>
        <p:spPr>
          <a:xfrm>
            <a:off x="8724900" y="5511800"/>
            <a:ext cx="304800" cy="1778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9"/>
          <a:srcRect t="14000" b="14000"/>
          <a:stretch>
            <a:fillRect/>
          </a:stretch>
        </p:blipFill>
        <p:spPr>
          <a:xfrm>
            <a:off x="12433300" y="5511800"/>
            <a:ext cx="2413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sp>
        <p:nvSpPr>
          <p:cNvPr name="AutoShape 3" id="3"/>
          <p:cNvSpPr/>
          <p:nvPr/>
        </p:nvSpPr>
        <p:spPr>
          <a:xfrm>
            <a:off x="876300" y="1549400"/>
            <a:ext cx="14490700" cy="6908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4" id="4"/>
          <p:cNvSpPr/>
          <p:nvPr/>
        </p:nvSpPr>
        <p:spPr>
          <a:xfrm>
            <a:off x="7162800" y="31623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5" id="5"/>
          <p:cNvSpPr/>
          <p:nvPr/>
        </p:nvSpPr>
        <p:spPr>
          <a:xfrm>
            <a:off x="8458200" y="31623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6" id="6"/>
          <p:cNvSpPr/>
          <p:nvPr/>
        </p:nvSpPr>
        <p:spPr>
          <a:xfrm>
            <a:off x="9372600" y="40640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7" id="7"/>
          <p:cNvSpPr/>
          <p:nvPr/>
        </p:nvSpPr>
        <p:spPr>
          <a:xfrm>
            <a:off x="9372600" y="53213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8" id="8"/>
          <p:cNvSpPr/>
          <p:nvPr/>
        </p:nvSpPr>
        <p:spPr>
          <a:xfrm>
            <a:off x="8458200" y="62230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9" id="9"/>
          <p:cNvSpPr/>
          <p:nvPr/>
        </p:nvSpPr>
        <p:spPr>
          <a:xfrm>
            <a:off x="7162800" y="62230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0" id="10"/>
          <p:cNvSpPr/>
          <p:nvPr/>
        </p:nvSpPr>
        <p:spPr>
          <a:xfrm>
            <a:off x="6248400" y="53213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name="AutoShape 11" id="11"/>
          <p:cNvSpPr/>
          <p:nvPr/>
        </p:nvSpPr>
        <p:spPr>
          <a:xfrm>
            <a:off x="6248400" y="4064000"/>
            <a:ext cx="622300" cy="6096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514600"/>
            <a:ext cx="4965700" cy="4965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>
            <a:off x="876300" y="673100"/>
            <a:ext cx="144907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3800" b="true">
                <a:solidFill>
                  <a:srgbClr val="075594"/>
                </a:solidFill>
                <a:latin typeface="&quot;Yeseva One&quot;"/>
              </a:rPr>
              <a:t>Le Cycle DevOps : 8 Phases Clés</a:t>
            </a:r>
            <a:endParaRPr lang="en-US" sz="1100"/>
          </a:p>
        </p:txBody>
      </p:sp>
      <p:sp>
        <p:nvSpPr>
          <p:cNvPr name="TextBox 14" id="14"/>
          <p:cNvSpPr txBox="true"/>
          <p:nvPr/>
        </p:nvSpPr>
        <p:spPr>
          <a:xfrm>
            <a:off x="876300" y="15494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Planification</a:t>
            </a:r>
            <a:endParaRPr lang="en-US" sz="1100"/>
          </a:p>
        </p:txBody>
      </p:sp>
      <p:sp>
        <p:nvSpPr>
          <p:cNvPr name="TextBox 15" id="15"/>
          <p:cNvSpPr txBox="true"/>
          <p:nvPr/>
        </p:nvSpPr>
        <p:spPr>
          <a:xfrm>
            <a:off x="11417300" y="15494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Développement</a:t>
            </a:r>
            <a:endParaRPr lang="en-US" sz="1100"/>
          </a:p>
        </p:txBody>
      </p:sp>
      <p:sp>
        <p:nvSpPr>
          <p:cNvPr name="TextBox 16" id="16"/>
          <p:cNvSpPr txBox="true"/>
          <p:nvPr/>
        </p:nvSpPr>
        <p:spPr>
          <a:xfrm>
            <a:off x="11417300" y="33909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Tests</a:t>
            </a:r>
            <a:endParaRPr lang="en-US" sz="1100"/>
          </a:p>
        </p:txBody>
      </p:sp>
      <p:sp>
        <p:nvSpPr>
          <p:cNvPr name="TextBox 17" id="17"/>
          <p:cNvSpPr txBox="true"/>
          <p:nvPr/>
        </p:nvSpPr>
        <p:spPr>
          <a:xfrm>
            <a:off x="11417300" y="52451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Déploiement</a:t>
            </a:r>
            <a:endParaRPr lang="en-US" sz="1100"/>
          </a:p>
        </p:txBody>
      </p:sp>
      <p:sp>
        <p:nvSpPr>
          <p:cNvPr name="TextBox 18" id="18"/>
          <p:cNvSpPr txBox="true"/>
          <p:nvPr/>
        </p:nvSpPr>
        <p:spPr>
          <a:xfrm>
            <a:off x="11417300" y="70993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Exploitation</a:t>
            </a:r>
            <a:endParaRPr lang="en-US" sz="1100"/>
          </a:p>
        </p:txBody>
      </p:sp>
      <p:sp>
        <p:nvSpPr>
          <p:cNvPr name="TextBox 19" id="19"/>
          <p:cNvSpPr txBox="true"/>
          <p:nvPr/>
        </p:nvSpPr>
        <p:spPr>
          <a:xfrm>
            <a:off x="876300" y="70993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Surveillance</a:t>
            </a:r>
            <a:endParaRPr lang="en-US" sz="1100"/>
          </a:p>
        </p:txBody>
      </p:sp>
      <p:sp>
        <p:nvSpPr>
          <p:cNvPr name="TextBox 20" id="20"/>
          <p:cNvSpPr txBox="true"/>
          <p:nvPr/>
        </p:nvSpPr>
        <p:spPr>
          <a:xfrm>
            <a:off x="876300" y="52451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Feedback</a:t>
            </a:r>
            <a:endParaRPr lang="en-US" sz="1100"/>
          </a:p>
        </p:txBody>
      </p:sp>
      <p:sp>
        <p:nvSpPr>
          <p:cNvPr name="TextBox 21" id="21"/>
          <p:cNvSpPr txBox="true"/>
          <p:nvPr/>
        </p:nvSpPr>
        <p:spPr>
          <a:xfrm>
            <a:off x="876300" y="3390900"/>
            <a:ext cx="3949700" cy="431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20000"/>
              </a:lnSpc>
              <a:defRPr/>
            </a:pPr>
            <a:r>
              <a:rPr lang="en-US"/>
              <a:t/>
            </a:r>
            <a:r>
              <a:rPr lang="en-US" sz="2900" b="true">
                <a:solidFill>
                  <a:srgbClr val="075594"/>
                </a:solidFill>
                <a:latin typeface="&quot;Yeseva One&quot;"/>
              </a:rPr>
              <a:t>Amélioration</a:t>
            </a:r>
            <a:endParaRPr lang="en-US" sz="1100"/>
          </a:p>
        </p:txBody>
      </p:sp>
      <p:sp>
        <p:nvSpPr>
          <p:cNvPr name="TextBox 22" id="22"/>
          <p:cNvSpPr txBox="true"/>
          <p:nvPr/>
        </p:nvSpPr>
        <p:spPr>
          <a:xfrm>
            <a:off x="876300" y="21590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Définition des objectifs et besoins</a:t>
            </a:r>
            <a:endParaRPr lang="en-US" sz="1100"/>
          </a:p>
        </p:txBody>
      </p:sp>
      <p:sp>
        <p:nvSpPr>
          <p:cNvPr name="TextBox 23" id="23"/>
          <p:cNvSpPr txBox="true"/>
          <p:nvPr/>
        </p:nvSpPr>
        <p:spPr>
          <a:xfrm>
            <a:off x="11417300" y="21590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Codage et création de fonctionnalités</a:t>
            </a:r>
            <a:endParaRPr lang="en-US" sz="1100"/>
          </a:p>
        </p:txBody>
      </p:sp>
      <p:sp>
        <p:nvSpPr>
          <p:cNvPr name="TextBox 24" id="24"/>
          <p:cNvSpPr txBox="true"/>
          <p:nvPr/>
        </p:nvSpPr>
        <p:spPr>
          <a:xfrm>
            <a:off x="11417300" y="40132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Validation qualité et fonctionnelle</a:t>
            </a:r>
            <a:endParaRPr lang="en-US" sz="1100"/>
          </a:p>
        </p:txBody>
      </p:sp>
      <p:sp>
        <p:nvSpPr>
          <p:cNvPr name="TextBox 25" id="25"/>
          <p:cNvSpPr txBox="true"/>
          <p:nvPr/>
        </p:nvSpPr>
        <p:spPr>
          <a:xfrm>
            <a:off x="11417300" y="58674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Mise en production automatisée</a:t>
            </a:r>
            <a:endParaRPr lang="en-US" sz="1100"/>
          </a:p>
        </p:txBody>
      </p:sp>
      <p:sp>
        <p:nvSpPr>
          <p:cNvPr name="TextBox 26" id="26"/>
          <p:cNvSpPr txBox="true"/>
          <p:nvPr/>
        </p:nvSpPr>
        <p:spPr>
          <a:xfrm>
            <a:off x="11417300" y="77216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l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Gestion environnement production</a:t>
            </a:r>
            <a:endParaRPr lang="en-US" sz="1100"/>
          </a:p>
        </p:txBody>
      </p:sp>
      <p:sp>
        <p:nvSpPr>
          <p:cNvPr name="TextBox 27" id="27"/>
          <p:cNvSpPr txBox="true"/>
          <p:nvPr/>
        </p:nvSpPr>
        <p:spPr>
          <a:xfrm>
            <a:off x="876300" y="77216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Monitoring performances et incidents</a:t>
            </a:r>
            <a:endParaRPr lang="en-US" sz="1100"/>
          </a:p>
        </p:txBody>
      </p:sp>
      <p:sp>
        <p:nvSpPr>
          <p:cNvPr name="TextBox 28" id="28"/>
          <p:cNvSpPr txBox="true"/>
          <p:nvPr/>
        </p:nvSpPr>
        <p:spPr>
          <a:xfrm>
            <a:off x="876300" y="58674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Retours utilisateurs et équipes</a:t>
            </a:r>
            <a:endParaRPr lang="en-US" sz="1100"/>
          </a:p>
        </p:txBody>
      </p:sp>
      <p:sp>
        <p:nvSpPr>
          <p:cNvPr name="TextBox 29" id="29"/>
          <p:cNvSpPr txBox="true"/>
          <p:nvPr/>
        </p:nvSpPr>
        <p:spPr>
          <a:xfrm>
            <a:off x="876300" y="4013200"/>
            <a:ext cx="3949700" cy="736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r" indent="0">
              <a:lnSpc>
                <a:spcPct val="150000"/>
              </a:lnSpc>
              <a:defRPr/>
            </a:pPr>
            <a:r>
              <a:rPr lang="en-US"/>
              <a:t/>
            </a:r>
            <a:r>
              <a:rPr lang="en-US" sz="1900" b="true">
                <a:solidFill>
                  <a:srgbClr val="075594"/>
                </a:solidFill>
                <a:latin typeface="&quot;Yeseva One&quot;"/>
              </a:rPr>
              <a:t>Optimisation continue du processus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3"/>
          <a:srcRect l="14000" r="14000"/>
          <a:stretch>
            <a:fillRect/>
          </a:stretch>
        </p:blipFill>
        <p:spPr>
          <a:xfrm>
            <a:off x="7378700" y="3352800"/>
            <a:ext cx="177800" cy="2413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8610600" y="3352800"/>
            <a:ext cx="304800" cy="241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5"/>
          <a:srcRect l="0" r="0"/>
          <a:stretch>
            <a:fillRect/>
          </a:stretch>
        </p:blipFill>
        <p:spPr>
          <a:xfrm>
            <a:off x="9563100" y="4241800"/>
            <a:ext cx="241300" cy="2413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6"/>
          <a:srcRect l="0" r="0"/>
          <a:stretch>
            <a:fillRect/>
          </a:stretch>
        </p:blipFill>
        <p:spPr>
          <a:xfrm>
            <a:off x="9563100" y="5511800"/>
            <a:ext cx="241300" cy="241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7"/>
          <a:srcRect t="11000" b="11000"/>
          <a:stretch>
            <a:fillRect/>
          </a:stretch>
        </p:blipFill>
        <p:spPr>
          <a:xfrm>
            <a:off x="8610600" y="6413500"/>
            <a:ext cx="304800" cy="2413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8"/>
          <a:srcRect t="7000" b="7000"/>
          <a:stretch>
            <a:fillRect/>
          </a:stretch>
        </p:blipFill>
        <p:spPr>
          <a:xfrm>
            <a:off x="7327900" y="6413500"/>
            <a:ext cx="279400" cy="2413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9"/>
          <a:srcRect t="11000" b="11000"/>
          <a:stretch>
            <a:fillRect/>
          </a:stretch>
        </p:blipFill>
        <p:spPr>
          <a:xfrm>
            <a:off x="6400800" y="5511800"/>
            <a:ext cx="304800" cy="2413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10"/>
          <a:srcRect l="0" r="0"/>
          <a:stretch>
            <a:fillRect/>
          </a:stretch>
        </p:blipFill>
        <p:spPr>
          <a:xfrm>
            <a:off x="6438900" y="42418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D5E5FD">
              <a:alpha val="51765"/>
            </a:srgbClr>
          </a:solid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t="32000" b="32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name="AutoShape 4" id="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</p:sp>
      <p:sp>
        <p:nvSpPr>
          <p:cNvPr name="TextBox 5" id="5"/>
          <p:cNvSpPr txBox="true"/>
          <p:nvPr/>
        </p:nvSpPr>
        <p:spPr>
          <a:xfrm>
            <a:off x="876300" y="3670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4900" b="true">
                <a:solidFill>
                  <a:srgbClr val="075594"/>
                </a:solidFill>
                <a:latin typeface="&quot;Yeseva One&quot;"/>
              </a:rPr>
              <a:t>Merci de Votre Attention</a:t>
            </a:r>
            <a:endParaRPr lang="en-US" sz="1100"/>
          </a:p>
        </p:txBody>
      </p:sp>
      <p:sp>
        <p:nvSpPr>
          <p:cNvPr name="TextBox 6" id="6"/>
          <p:cNvSpPr txBox="true"/>
          <p:nvPr/>
        </p:nvSpPr>
        <p:spPr>
          <a:xfrm>
            <a:off x="876300" y="47117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anchor="ctr" rtlCol="false" rIns="0" lIns="0" tIns="0" bIns="0"/>
          <a:lstStyle/>
          <a:p>
            <a:pPr algn="ctr" indent="0">
              <a:lnSpc>
                <a:spcPct val="160000"/>
              </a:lnSpc>
              <a:defRPr/>
            </a:pPr>
            <a:r>
              <a:rPr lang="en-US"/>
              <a:t/>
            </a:r>
            <a:r>
              <a:rPr lang="en-US" sz="1600" b="true">
                <a:solidFill>
                  <a:srgbClr val="075594"/>
                </a:solidFill>
                <a:latin typeface="&quot;Yeseva One&quot;"/>
              </a:rPr>
              <a:t>Les outils de conception structurée sont essentiels pour créer des logiciels robustes, maintenables et évolutifs.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