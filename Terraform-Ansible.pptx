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4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4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>
            <a:off x="876300" y="31369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60000"/>
              </a:lnSpc>
              <a:defRPr/>
            </a:pPr>
            <a:r>
              <a:rPr lang="en-US"/>
              <a:t/>
            </a:r>
            <a:r>
              <a:rPr lang="en-US" sz="4900" b="true">
                <a:solidFill>
                  <a:srgbClr val="142943"/>
                </a:solidFill>
                <a:latin typeface="&quot;Yeseva One&quot;"/>
              </a:rPr>
              <a:t>Terraform &amp; Ansible : Infrastructure as Code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876300" y="41783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Maîtriser l'automatisation de l'infrastructure et la gestion de configuration pour des déploiements modernes et fiables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6934200" y="1231900"/>
            <a:ext cx="8445500" cy="6654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6934200" y="1231900"/>
            <a:ext cx="8445500" cy="1333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6934200" y="3009900"/>
            <a:ext cx="8445500" cy="1333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6934200" y="4787900"/>
            <a:ext cx="8445500" cy="1333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6934200" y="6565900"/>
            <a:ext cx="8445500" cy="1333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TextBox 9" id="9"/>
          <p:cNvSpPr txBox="true"/>
          <p:nvPr/>
        </p:nvSpPr>
        <p:spPr>
          <a:xfrm>
            <a:off x="876300" y="4127500"/>
            <a:ext cx="5422900" cy="863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800" b="true">
                <a:solidFill>
                  <a:srgbClr val="142943"/>
                </a:solidFill>
                <a:latin typeface="&quot;Yeseva One&quot;"/>
              </a:rPr>
              <a:t>Sommaire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6934200" y="1231900"/>
            <a:ext cx="84455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142943"/>
                </a:solidFill>
                <a:latin typeface="&quot;Yeseva One&quot;"/>
              </a:rPr>
              <a:t>01. Infrastructure as Code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934200" y="3009900"/>
            <a:ext cx="84455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142943"/>
                </a:solidFill>
                <a:latin typeface="&quot;Yeseva One&quot;"/>
              </a:rPr>
              <a:t>02. Terraform - Provisionnement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6934200" y="4787900"/>
            <a:ext cx="84455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142943"/>
                </a:solidFill>
                <a:latin typeface="&quot;Yeseva One&quot;"/>
              </a:rPr>
              <a:t>03. Ansible - Gestion de Configuration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6934200" y="6565900"/>
            <a:ext cx="84455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142943"/>
                </a:solidFill>
                <a:latin typeface="&quot;Yeseva One&quot;"/>
              </a:rPr>
              <a:t>04. Comparaison et Bonnes Pratiques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6934200" y="1841500"/>
            <a:ext cx="84455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Introduction aux concepts fondamentaux de l'IaC et ses avantages pour l'automatisation et la gestion d'infrastructure.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6934200" y="3619500"/>
            <a:ext cx="84455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Découverte de Terraform pour le provisionnement d'infrastructure multi-cloud avec un langage déclaratif.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6934200" y="5397500"/>
            <a:ext cx="84455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Exploration d'Ansible pour l'automatisation de configuration et l'orchestration des systèmes sans agent.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6934200" y="7162800"/>
            <a:ext cx="84455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Différences, complémentarité et recommandations pour utiliser Terraform et Ansible efficacement ensemble.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1000" b="1000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876300" y="1714500"/>
            <a:ext cx="9283700" cy="6883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1714500"/>
            <a:ext cx="2921000" cy="44069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7" id="7"/>
          <p:cNvSpPr/>
          <p:nvPr/>
        </p:nvSpPr>
        <p:spPr>
          <a:xfrm>
            <a:off x="1206500" y="1905000"/>
            <a:ext cx="584200" cy="584200"/>
          </a:xfrm>
          <a:prstGeom prst="roundRect">
            <a:avLst>
              <a:gd name="adj" fmla="val 50000"/>
            </a:avLst>
          </a:prstGeom>
          <a:solidFill>
            <a:srgbClr val="4F729C"/>
          </a:solidFill>
        </p:spPr>
      </p:sp>
      <p:sp>
        <p:nvSpPr>
          <p:cNvPr name="AutoShape 8" id="8"/>
          <p:cNvSpPr/>
          <p:nvPr/>
        </p:nvSpPr>
        <p:spPr>
          <a:xfrm>
            <a:off x="4051300" y="1714500"/>
            <a:ext cx="2921000" cy="44069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9" id="9"/>
          <p:cNvSpPr/>
          <p:nvPr/>
        </p:nvSpPr>
        <p:spPr>
          <a:xfrm>
            <a:off x="4394200" y="1905000"/>
            <a:ext cx="584200" cy="584200"/>
          </a:xfrm>
          <a:prstGeom prst="roundRect">
            <a:avLst>
              <a:gd name="adj" fmla="val 50000"/>
            </a:avLst>
          </a:prstGeom>
          <a:solidFill>
            <a:srgbClr val="4F729C"/>
          </a:solidFill>
        </p:spPr>
      </p:sp>
      <p:sp>
        <p:nvSpPr>
          <p:cNvPr name="AutoShape 10" id="10"/>
          <p:cNvSpPr/>
          <p:nvPr/>
        </p:nvSpPr>
        <p:spPr>
          <a:xfrm>
            <a:off x="7239000" y="1714500"/>
            <a:ext cx="2921000" cy="44069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1" id="11"/>
          <p:cNvSpPr/>
          <p:nvPr/>
        </p:nvSpPr>
        <p:spPr>
          <a:xfrm>
            <a:off x="7569200" y="1905000"/>
            <a:ext cx="584200" cy="584200"/>
          </a:xfrm>
          <a:prstGeom prst="roundRect">
            <a:avLst>
              <a:gd name="adj" fmla="val 50000"/>
            </a:avLst>
          </a:prstGeom>
          <a:solidFill>
            <a:srgbClr val="4F729C"/>
          </a:solidFill>
        </p:spPr>
      </p:sp>
      <p:sp>
        <p:nvSpPr>
          <p:cNvPr name="AutoShape 12" id="12"/>
          <p:cNvSpPr/>
          <p:nvPr/>
        </p:nvSpPr>
        <p:spPr>
          <a:xfrm>
            <a:off x="876300" y="6324600"/>
            <a:ext cx="9283700" cy="22733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3" id="13"/>
          <p:cNvSpPr/>
          <p:nvPr/>
        </p:nvSpPr>
        <p:spPr>
          <a:xfrm>
            <a:off x="1206500" y="6515100"/>
            <a:ext cx="584200" cy="584200"/>
          </a:xfrm>
          <a:prstGeom prst="roundRect">
            <a:avLst>
              <a:gd name="adj" fmla="val 50000"/>
            </a:avLst>
          </a:prstGeom>
          <a:solidFill>
            <a:srgbClr val="4F729C"/>
          </a:solidFill>
        </p:spPr>
      </p:sp>
      <p:sp>
        <p:nvSpPr>
          <p:cNvPr name="TextBox 14" id="14"/>
          <p:cNvSpPr txBox="true"/>
          <p:nvPr/>
        </p:nvSpPr>
        <p:spPr>
          <a:xfrm>
            <a:off x="876300" y="533400"/>
            <a:ext cx="9283700" cy="939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100" b="true">
                <a:solidFill>
                  <a:srgbClr val="142943"/>
                </a:solidFill>
                <a:latin typeface="&quot;Yeseva One&quot;"/>
              </a:rPr>
              <a:t>Infrastructure as Code (IaC) : Révolution Moderne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130300" y="2692400"/>
            <a:ext cx="24130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300" b="true">
                <a:solidFill>
                  <a:srgbClr val="142943"/>
                </a:solidFill>
                <a:latin typeface="&quot;Yeseva One&quot;"/>
              </a:rPr>
              <a:t>Définition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4305300" y="2692400"/>
            <a:ext cx="2413000" cy="711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300" b="true">
                <a:solidFill>
                  <a:srgbClr val="142943"/>
                </a:solidFill>
                <a:latin typeface="&quot;Yeseva One&quot;"/>
              </a:rPr>
              <a:t>Paradigme Nouveau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7493000" y="2692400"/>
            <a:ext cx="2413000" cy="711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300" b="true">
                <a:solidFill>
                  <a:srgbClr val="142943"/>
                </a:solidFill>
                <a:latin typeface="&quot;Yeseva One&quot;"/>
              </a:rPr>
              <a:t>Versionnable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130300" y="7302500"/>
            <a:ext cx="87757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300" b="true">
                <a:solidFill>
                  <a:srgbClr val="142943"/>
                </a:solidFill>
                <a:latin typeface="&quot;Yeseva One&quot;"/>
              </a:rPr>
              <a:t>Automatisation Complète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130300" y="3187700"/>
            <a:ext cx="2413000" cy="2362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true">
                <a:solidFill>
                  <a:srgbClr val="142943"/>
                </a:solidFill>
                <a:latin typeface="&quot;Yeseva One&quot;"/>
              </a:rPr>
              <a:t>Gestion et provisionnement d'infrastructure via des fichiers de code lisibles par machine plutôt que configuration manuelle.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4305300" y="3543300"/>
            <a:ext cx="2413000" cy="2362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true">
                <a:solidFill>
                  <a:srgbClr val="142943"/>
                </a:solidFill>
                <a:latin typeface="&quot;Yeseva One&quot;"/>
              </a:rPr>
              <a:t>Approche déclarative où vous définissez l'état désiré et les outils appliquent automatiquement les changements nécessaires.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7493000" y="3543300"/>
            <a:ext cx="2413000" cy="177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true">
                <a:solidFill>
                  <a:srgbClr val="142943"/>
                </a:solidFill>
                <a:latin typeface="&quot;Yeseva One&quot;"/>
              </a:rPr>
              <a:t>Infrastructure traitée comme du code applicatif avec versioning Git, revue de code et CI/CD.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130300" y="7797800"/>
            <a:ext cx="87757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true">
                <a:solidFill>
                  <a:srgbClr val="142943"/>
                </a:solidFill>
                <a:latin typeface="&quot;Yeseva One&quot;"/>
              </a:rPr>
              <a:t>Création, modification et destruction d'infrastructure entièrement automatisées et reproductibles.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rcRect l="4000" r="4000"/>
          <a:stretch>
            <a:fillRect/>
          </a:stretch>
        </p:blipFill>
        <p:spPr>
          <a:xfrm>
            <a:off x="1409700" y="2108200"/>
            <a:ext cx="177800" cy="190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5"/>
          <a:srcRect t="11000" b="11000"/>
          <a:stretch>
            <a:fillRect/>
          </a:stretch>
        </p:blipFill>
        <p:spPr>
          <a:xfrm>
            <a:off x="4559300" y="2108200"/>
            <a:ext cx="241300" cy="190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6"/>
          <a:srcRect t="6000" b="6000"/>
          <a:stretch>
            <a:fillRect/>
          </a:stretch>
        </p:blipFill>
        <p:spPr>
          <a:xfrm>
            <a:off x="7759700" y="2108200"/>
            <a:ext cx="215900" cy="190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7"/>
          <a:srcRect t="11000" b="11000"/>
          <a:stretch>
            <a:fillRect/>
          </a:stretch>
        </p:blipFill>
        <p:spPr>
          <a:xfrm>
            <a:off x="1384300" y="6718300"/>
            <a:ext cx="2413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1422400"/>
            <a:ext cx="14490700" cy="6489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1422400"/>
            <a:ext cx="3429000" cy="39751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6" id="6"/>
          <p:cNvSpPr/>
          <p:nvPr/>
        </p:nvSpPr>
        <p:spPr>
          <a:xfrm>
            <a:off x="1168400" y="1651000"/>
            <a:ext cx="673100" cy="673100"/>
          </a:xfrm>
          <a:prstGeom prst="roundRect">
            <a:avLst>
              <a:gd name="adj" fmla="val 49056"/>
            </a:avLst>
          </a:prstGeom>
          <a:solidFill>
            <a:srgbClr val="4F729C"/>
          </a:solidFill>
        </p:spPr>
      </p:sp>
      <p:sp>
        <p:nvSpPr>
          <p:cNvPr name="AutoShape 7" id="7"/>
          <p:cNvSpPr/>
          <p:nvPr/>
        </p:nvSpPr>
        <p:spPr>
          <a:xfrm>
            <a:off x="4559300" y="1422400"/>
            <a:ext cx="3429000" cy="39751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8" id="8"/>
          <p:cNvSpPr/>
          <p:nvPr/>
        </p:nvSpPr>
        <p:spPr>
          <a:xfrm>
            <a:off x="4851400" y="1651000"/>
            <a:ext cx="673100" cy="673100"/>
          </a:xfrm>
          <a:prstGeom prst="roundRect">
            <a:avLst>
              <a:gd name="adj" fmla="val 49056"/>
            </a:avLst>
          </a:prstGeom>
          <a:solidFill>
            <a:srgbClr val="4F729C"/>
          </a:solidFill>
        </p:spPr>
      </p:sp>
      <p:sp>
        <p:nvSpPr>
          <p:cNvPr name="AutoShape 9" id="9"/>
          <p:cNvSpPr/>
          <p:nvPr/>
        </p:nvSpPr>
        <p:spPr>
          <a:xfrm>
            <a:off x="8242300" y="1422400"/>
            <a:ext cx="3429000" cy="39751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0" id="10"/>
          <p:cNvSpPr/>
          <p:nvPr/>
        </p:nvSpPr>
        <p:spPr>
          <a:xfrm>
            <a:off x="8534400" y="1651000"/>
            <a:ext cx="673100" cy="673100"/>
          </a:xfrm>
          <a:prstGeom prst="roundRect">
            <a:avLst>
              <a:gd name="adj" fmla="val 49056"/>
            </a:avLst>
          </a:prstGeom>
          <a:solidFill>
            <a:srgbClr val="4F729C"/>
          </a:solidFill>
        </p:spPr>
      </p:sp>
      <p:sp>
        <p:nvSpPr>
          <p:cNvPr name="AutoShape 11" id="11"/>
          <p:cNvSpPr/>
          <p:nvPr/>
        </p:nvSpPr>
        <p:spPr>
          <a:xfrm>
            <a:off x="11938000" y="1422400"/>
            <a:ext cx="3429000" cy="39751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2" id="12"/>
          <p:cNvSpPr/>
          <p:nvPr/>
        </p:nvSpPr>
        <p:spPr>
          <a:xfrm>
            <a:off x="12217400" y="1651000"/>
            <a:ext cx="673100" cy="673100"/>
          </a:xfrm>
          <a:prstGeom prst="roundRect">
            <a:avLst>
              <a:gd name="adj" fmla="val 49056"/>
            </a:avLst>
          </a:prstGeom>
          <a:solidFill>
            <a:srgbClr val="4F729C"/>
          </a:solidFill>
        </p:spPr>
      </p:sp>
      <p:sp>
        <p:nvSpPr>
          <p:cNvPr name="AutoShape 13" id="13"/>
          <p:cNvSpPr/>
          <p:nvPr/>
        </p:nvSpPr>
        <p:spPr>
          <a:xfrm>
            <a:off x="876300" y="5638800"/>
            <a:ext cx="14490700" cy="22733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4" id="14"/>
          <p:cNvSpPr/>
          <p:nvPr/>
        </p:nvSpPr>
        <p:spPr>
          <a:xfrm>
            <a:off x="1168400" y="5867400"/>
            <a:ext cx="673100" cy="673100"/>
          </a:xfrm>
          <a:prstGeom prst="roundRect">
            <a:avLst>
              <a:gd name="adj" fmla="val 49056"/>
            </a:avLst>
          </a:prstGeom>
          <a:solidFill>
            <a:srgbClr val="4F729C"/>
          </a:solidFill>
        </p:spPr>
      </p:sp>
      <p:sp>
        <p:nvSpPr>
          <p:cNvPr name="TextBox 15" id="15"/>
          <p:cNvSpPr txBox="true"/>
          <p:nvPr/>
        </p:nvSpPr>
        <p:spPr>
          <a:xfrm>
            <a:off x="876300" y="622300"/>
            <a:ext cx="144907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500" b="true">
                <a:solidFill>
                  <a:srgbClr val="142943"/>
                </a:solidFill>
                <a:latin typeface="&quot;Yeseva One&quot;"/>
              </a:rPr>
              <a:t>Avantages de l'Infrastructure as Code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130300" y="2565400"/>
            <a:ext cx="29210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600" b="true">
                <a:solidFill>
                  <a:srgbClr val="142943"/>
                </a:solidFill>
                <a:latin typeface="&quot;Yeseva One&quot;"/>
              </a:rPr>
              <a:t>Rapidité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4813300" y="2565400"/>
            <a:ext cx="29210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600" b="true">
                <a:solidFill>
                  <a:srgbClr val="142943"/>
                </a:solidFill>
                <a:latin typeface="&quot;Yeseva One&quot;"/>
              </a:rPr>
              <a:t>Cohérence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8496300" y="2565400"/>
            <a:ext cx="29210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600" b="true">
                <a:solidFill>
                  <a:srgbClr val="142943"/>
                </a:solidFill>
                <a:latin typeface="&quot;Yeseva One&quot;"/>
              </a:rPr>
              <a:t>Reproductibilité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2179300" y="2565400"/>
            <a:ext cx="29210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600" b="true">
                <a:solidFill>
                  <a:srgbClr val="142943"/>
                </a:solidFill>
                <a:latin typeface="&quot;Yeseva One&quot;"/>
              </a:rPr>
              <a:t>Réduction d'Erreurs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130300" y="6769100"/>
            <a:ext cx="64389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600" b="true">
                <a:solidFill>
                  <a:srgbClr val="142943"/>
                </a:solidFill>
                <a:latin typeface="&quot;Yeseva One&quot;"/>
              </a:rPr>
              <a:t>Scalabilité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130300" y="3124200"/>
            <a:ext cx="2921000" cy="204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Déploiement en minutes contre heures/jours manuellement. Réduction de </a:t>
            </a:r>
            <a:r>
              <a:rPr lang="en-US" sz="1600" b="true">
                <a:solidFill>
                  <a:srgbClr val="3498DB"/>
                </a:solidFill>
                <a:latin typeface="&quot;Yeseva One&quot;"/>
              </a:rPr>
              <a:t>80%</a:t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 du temps.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4813300" y="3124200"/>
            <a:ext cx="29210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Environnements identiques garantis. Élimine les écarts de configuration.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8496300" y="3543300"/>
            <a:ext cx="29210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Infrastructure recréable à l'identique partout et à tout moment.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12179300" y="3543300"/>
            <a:ext cx="2921000" cy="1016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Automatisation réduit les erreurs humaines de </a:t>
            </a:r>
            <a:r>
              <a:rPr lang="en-US" sz="1600" b="true">
                <a:solidFill>
                  <a:srgbClr val="3498DB"/>
                </a:solidFill>
                <a:latin typeface="&quot;Yeseva One&quot;"/>
              </a:rPr>
              <a:t>90%</a:t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.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1130300" y="7340600"/>
            <a:ext cx="64389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Passage à l'échelle simplifié avec code réutilisable.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876300" y="8166100"/>
            <a:ext cx="144907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L'IaC transforme la gestion d'infrastructure en processus agile, fiable et collaboratif.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3"/>
          <a:srcRect l="0" r="0"/>
          <a:stretch>
            <a:fillRect/>
          </a:stretch>
        </p:blipFill>
        <p:spPr>
          <a:xfrm>
            <a:off x="1397000" y="1879600"/>
            <a:ext cx="215900" cy="215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4"/>
          <a:srcRect l="0" r="0"/>
          <a:stretch>
            <a:fillRect/>
          </a:stretch>
        </p:blipFill>
        <p:spPr>
          <a:xfrm>
            <a:off x="5080000" y="1879600"/>
            <a:ext cx="215900" cy="2159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5"/>
          <a:srcRect t="6000" b="6000"/>
          <a:stretch>
            <a:fillRect/>
          </a:stretch>
        </p:blipFill>
        <p:spPr>
          <a:xfrm>
            <a:off x="8750300" y="1879600"/>
            <a:ext cx="241300" cy="2159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5"/>
          <a:srcRect t="6000" b="6000"/>
          <a:stretch>
            <a:fillRect/>
          </a:stretch>
        </p:blipFill>
        <p:spPr>
          <a:xfrm>
            <a:off x="12433300" y="1879600"/>
            <a:ext cx="241300" cy="2159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6"/>
          <a:srcRect t="6000" b="6000"/>
          <a:stretch>
            <a:fillRect/>
          </a:stretch>
        </p:blipFill>
        <p:spPr>
          <a:xfrm>
            <a:off x="1384300" y="6096000"/>
            <a:ext cx="241300" cy="215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1000" b="1000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6083300" y="4394200"/>
            <a:ext cx="9283700" cy="2971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6083300" y="4394200"/>
            <a:ext cx="9283700" cy="2971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6083300" y="4394200"/>
            <a:ext cx="558800" cy="4953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8" id="8"/>
          <p:cNvSpPr/>
          <p:nvPr/>
        </p:nvSpPr>
        <p:spPr>
          <a:xfrm>
            <a:off x="6083300" y="7620000"/>
            <a:ext cx="12700" cy="660400"/>
          </a:xfrm>
          <a:prstGeom prst="rect">
            <a:avLst/>
          </a:prstGeom>
          <a:solidFill>
            <a:srgbClr val="142943"/>
          </a:solidFill>
        </p:spPr>
      </p:sp>
      <p:sp>
        <p:nvSpPr>
          <p:cNvPr name="TextBox 9" id="9"/>
          <p:cNvSpPr txBox="true"/>
          <p:nvPr/>
        </p:nvSpPr>
        <p:spPr>
          <a:xfrm>
            <a:off x="6083300" y="596900"/>
            <a:ext cx="9283700" cy="1054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400" b="true">
                <a:solidFill>
                  <a:srgbClr val="142943"/>
                </a:solidFill>
                <a:latin typeface="&quot;Yeseva One&quot;"/>
              </a:rPr>
              <a:t>Terraform : L'Outil de Provisionnement Multi-Cloud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6083300" y="1917700"/>
            <a:ext cx="92837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600" b="true">
                <a:solidFill>
                  <a:srgbClr val="142943"/>
                </a:solidFill>
                <a:latin typeface="&quot;Yeseva One&quot;"/>
              </a:rPr>
              <a:t>Qu'est-ce que Terraform ?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083300" y="3810000"/>
            <a:ext cx="92837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100" b="true">
                <a:solidFill>
                  <a:srgbClr val="142943"/>
                </a:solidFill>
                <a:latin typeface="&quot;Yeseva One&quot;"/>
              </a:rPr>
              <a:t>Caractéristiques Principales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6299200" y="4470400"/>
            <a:ext cx="3048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100" b="tru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1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6083300" y="2565400"/>
            <a:ext cx="9283700" cy="99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Outil open-source développé par HashiCorp permettant de définir, prévisualiser et déployer une infrastructure cloud via un langage déclaratif appelé HCL (HashiCorp Configuration Language).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7150100" y="4483100"/>
            <a:ext cx="82169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Multi-cloud et multi-provider (AWS, Azure, GCP, etc.)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7150100" y="4991100"/>
            <a:ext cx="82169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Langage déclaratif HCL simple et lisible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7150100" y="5499100"/>
            <a:ext cx="82169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Plan d'exécution prévisualisable avant application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7150100" y="6007100"/>
            <a:ext cx="82169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Graphe de dépendances automatique entre ressources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7150100" y="6527800"/>
            <a:ext cx="82169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Gestion d'état pour suivre l'infrastructure réelle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7150100" y="7035800"/>
            <a:ext cx="82169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Large écosystème de providers et modules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6324600" y="7620000"/>
            <a:ext cx="9029700" cy="660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Terraform permet de gérer toute infrastructure avec un workflow unifié, de la création à la destruction.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6769100" y="45339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6769100" y="50419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6769100" y="55499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6769100" y="60706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6769100" y="65786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6769100" y="70866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1485900"/>
            <a:ext cx="14490700" cy="6299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1485900"/>
            <a:ext cx="3429000" cy="62992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6" id="6"/>
          <p:cNvSpPr/>
          <p:nvPr/>
        </p:nvSpPr>
        <p:spPr>
          <a:xfrm>
            <a:off x="1143000" y="17272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4F729C"/>
          </a:solidFill>
        </p:spPr>
      </p:sp>
      <p:sp>
        <p:nvSpPr>
          <p:cNvPr name="AutoShape 7" id="7"/>
          <p:cNvSpPr/>
          <p:nvPr/>
        </p:nvSpPr>
        <p:spPr>
          <a:xfrm>
            <a:off x="4559300" y="1485900"/>
            <a:ext cx="3429000" cy="62992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8" id="8"/>
          <p:cNvSpPr/>
          <p:nvPr/>
        </p:nvSpPr>
        <p:spPr>
          <a:xfrm>
            <a:off x="4838700" y="17272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4F729C"/>
          </a:solidFill>
        </p:spPr>
      </p:sp>
      <p:sp>
        <p:nvSpPr>
          <p:cNvPr name="AutoShape 9" id="9"/>
          <p:cNvSpPr/>
          <p:nvPr/>
        </p:nvSpPr>
        <p:spPr>
          <a:xfrm>
            <a:off x="8242300" y="1485900"/>
            <a:ext cx="3429000" cy="62992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0" id="10"/>
          <p:cNvSpPr/>
          <p:nvPr/>
        </p:nvSpPr>
        <p:spPr>
          <a:xfrm>
            <a:off x="8521700" y="17272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4F729C"/>
          </a:solidFill>
        </p:spPr>
      </p:sp>
      <p:sp>
        <p:nvSpPr>
          <p:cNvPr name="AutoShape 11" id="11"/>
          <p:cNvSpPr/>
          <p:nvPr/>
        </p:nvSpPr>
        <p:spPr>
          <a:xfrm>
            <a:off x="11938000" y="1485900"/>
            <a:ext cx="3429000" cy="62992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2" id="12"/>
          <p:cNvSpPr/>
          <p:nvPr/>
        </p:nvSpPr>
        <p:spPr>
          <a:xfrm>
            <a:off x="12204700" y="17272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4F729C"/>
          </a:solidFill>
        </p:spPr>
      </p:sp>
      <p:sp>
        <p:nvSpPr>
          <p:cNvPr name="TextBox 13" id="13"/>
          <p:cNvSpPr txBox="true"/>
          <p:nvPr/>
        </p:nvSpPr>
        <p:spPr>
          <a:xfrm>
            <a:off x="876300" y="647700"/>
            <a:ext cx="144907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700" b="true">
                <a:solidFill>
                  <a:srgbClr val="142943"/>
                </a:solidFill>
                <a:latin typeface="&quot;Yeseva One&quot;"/>
              </a:rPr>
              <a:t>Concepts Clés de Terraform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130300" y="2667000"/>
            <a:ext cx="29210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3498DB"/>
                </a:solidFill>
                <a:latin typeface="Poppins"/>
              </a:rPr>
              <a:t>Providers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4813300" y="2667000"/>
            <a:ext cx="29210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3498DB"/>
                </a:solidFill>
                <a:latin typeface="Poppins"/>
              </a:rPr>
              <a:t>Resources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8496300" y="2667000"/>
            <a:ext cx="29210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3498DB"/>
                </a:solidFill>
                <a:latin typeface="Poppins"/>
              </a:rPr>
              <a:t>State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2179300" y="2667000"/>
            <a:ext cx="29210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3498DB"/>
                </a:solidFill>
                <a:latin typeface="Poppins"/>
              </a:rPr>
              <a:t>Modules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876300" y="8051800"/>
            <a:ext cx="144907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142943"/>
                </a:solidFill>
                <a:latin typeface="&quot;Yeseva One&quot;"/>
              </a:rPr>
              <a:t>Ces concepts forment l'architecture modulaire et extensible de Terraform.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130300" y="3276600"/>
            <a:ext cx="2921000" cy="3733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42943"/>
                </a:solidFill>
                <a:latin typeface="&quot;Yeseva One&quot;"/>
              </a:rPr>
              <a:t>Plugins pour interagir avec APIs cloud (AWS, Azure, GCP). Plus de 1000 providers disponibles.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4813300" y="3276600"/>
            <a:ext cx="2921000" cy="4267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42943"/>
                </a:solidFill>
                <a:latin typeface="&quot;Yeseva One&quot;"/>
              </a:rPr>
              <a:t>Composants d'infrastructure (VM, réseaux, bases de données). Élément fondamental de Terraform.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8496300" y="3276600"/>
            <a:ext cx="2921000" cy="3733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42943"/>
                </a:solidFill>
                <a:latin typeface="&quot;Yeseva One&quot;"/>
              </a:rPr>
              <a:t>Fichier JSON suivant l'état actuel de l'infrastructure. Base de la gestion des changements.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2179300" y="3276600"/>
            <a:ext cx="2921000" cy="3733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42943"/>
                </a:solidFill>
                <a:latin typeface="&quot;Yeseva One&quot;"/>
              </a:rPr>
              <a:t>Ensembles réutilisables de configurations. Favorise DRY et bonnes pratiques.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3"/>
          <a:srcRect l="12000" r="12000"/>
          <a:stretch>
            <a:fillRect/>
          </a:stretch>
        </p:blipFill>
        <p:spPr>
          <a:xfrm>
            <a:off x="1409700" y="1955800"/>
            <a:ext cx="177800" cy="228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4"/>
          <a:srcRect t="3000" b="3000"/>
          <a:stretch>
            <a:fillRect/>
          </a:stretch>
        </p:blipFill>
        <p:spPr>
          <a:xfrm>
            <a:off x="5067300" y="1955800"/>
            <a:ext cx="241300" cy="2286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5"/>
          <a:srcRect l="3000" r="3000"/>
          <a:stretch>
            <a:fillRect/>
          </a:stretch>
        </p:blipFill>
        <p:spPr>
          <a:xfrm>
            <a:off x="8763000" y="1955800"/>
            <a:ext cx="215900" cy="2286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6"/>
          <a:srcRect t="3000" b="3000"/>
          <a:stretch>
            <a:fillRect/>
          </a:stretch>
        </p:blipFill>
        <p:spPr>
          <a:xfrm>
            <a:off x="12433300" y="1955800"/>
            <a:ext cx="2413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844800"/>
            <a:ext cx="14490700" cy="3657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3987800"/>
            <a:ext cx="3378200" cy="2527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3987800"/>
            <a:ext cx="3378200" cy="2527300"/>
          </a:xfrm>
          <a:prstGeom prst="roundRect">
            <a:avLst>
              <a:gd name="adj" fmla="val 3015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876300" y="3987800"/>
            <a:ext cx="3378200" cy="2413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8" id="8"/>
          <p:cNvSpPr/>
          <p:nvPr/>
        </p:nvSpPr>
        <p:spPr>
          <a:xfrm>
            <a:off x="4572000" y="3606800"/>
            <a:ext cx="3378200" cy="2895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9" id="9"/>
          <p:cNvSpPr/>
          <p:nvPr/>
        </p:nvSpPr>
        <p:spPr>
          <a:xfrm>
            <a:off x="4572000" y="3606800"/>
            <a:ext cx="3378200" cy="2895600"/>
          </a:xfrm>
          <a:prstGeom prst="roundRect">
            <a:avLst>
              <a:gd name="adj" fmla="val 2631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10" id="10"/>
          <p:cNvSpPr/>
          <p:nvPr/>
        </p:nvSpPr>
        <p:spPr>
          <a:xfrm>
            <a:off x="4572000" y="3606800"/>
            <a:ext cx="3378200" cy="2413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1" id="11"/>
          <p:cNvSpPr/>
          <p:nvPr/>
        </p:nvSpPr>
        <p:spPr>
          <a:xfrm>
            <a:off x="8280400" y="3225800"/>
            <a:ext cx="3378200" cy="3276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2" id="12"/>
          <p:cNvSpPr/>
          <p:nvPr/>
        </p:nvSpPr>
        <p:spPr>
          <a:xfrm>
            <a:off x="8280400" y="3225800"/>
            <a:ext cx="3378200" cy="3276600"/>
          </a:xfrm>
          <a:prstGeom prst="roundRect">
            <a:avLst>
              <a:gd name="adj" fmla="val 2325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13" id="13"/>
          <p:cNvSpPr/>
          <p:nvPr/>
        </p:nvSpPr>
        <p:spPr>
          <a:xfrm>
            <a:off x="8280400" y="3225800"/>
            <a:ext cx="3378200" cy="2413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4" id="14"/>
          <p:cNvSpPr/>
          <p:nvPr/>
        </p:nvSpPr>
        <p:spPr>
          <a:xfrm>
            <a:off x="11976100" y="2844800"/>
            <a:ext cx="3378200" cy="3657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5" id="15"/>
          <p:cNvSpPr/>
          <p:nvPr/>
        </p:nvSpPr>
        <p:spPr>
          <a:xfrm>
            <a:off x="11976100" y="2844800"/>
            <a:ext cx="3378200" cy="3657600"/>
          </a:xfrm>
          <a:prstGeom prst="roundRect">
            <a:avLst>
              <a:gd name="adj" fmla="val 2255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16" id="16"/>
          <p:cNvSpPr/>
          <p:nvPr/>
        </p:nvSpPr>
        <p:spPr>
          <a:xfrm>
            <a:off x="11976100" y="2844800"/>
            <a:ext cx="3378200" cy="2413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TextBox 17" id="17"/>
          <p:cNvSpPr txBox="true"/>
          <p:nvPr/>
        </p:nvSpPr>
        <p:spPr>
          <a:xfrm>
            <a:off x="876300" y="19558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142943"/>
                </a:solidFill>
                <a:latin typeface="&quot;Yeseva One&quot;"/>
              </a:rPr>
              <a:t>Workflow Terraform : 4 Étapes Essentielles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130300" y="4483100"/>
            <a:ext cx="2870200" cy="457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3498DB"/>
                </a:solidFill>
                <a:latin typeface="Poppins"/>
              </a:rPr>
              <a:t>1. Write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4826000" y="4102100"/>
            <a:ext cx="2870200" cy="457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3498DB"/>
                </a:solidFill>
                <a:latin typeface="Poppins"/>
              </a:rPr>
              <a:t>2. Plan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8534400" y="3733800"/>
            <a:ext cx="2870200" cy="457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3498DB"/>
                </a:solidFill>
                <a:latin typeface="Poppins"/>
              </a:rPr>
              <a:t>3. Apply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2230100" y="3352800"/>
            <a:ext cx="2870200" cy="457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3498DB"/>
                </a:solidFill>
                <a:latin typeface="Poppins"/>
              </a:rPr>
              <a:t>4. Destroy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130300" y="5118100"/>
            <a:ext cx="28702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Écrire configuration HCL définissant ressources désirées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4826000" y="4749800"/>
            <a:ext cx="28702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Prévisualiser changements avant application avec terraform plan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8534400" y="4368800"/>
            <a:ext cx="28702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Appliquer changements et créer/modifier infrastructure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12230100" y="3987800"/>
            <a:ext cx="28702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Détruire infrastructure proprement quand nécessaire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876300" y="67945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Ce workflow itératif garantit contrôle et prévisibilité à chaque étape.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876300" y="1346200"/>
            <a:ext cx="9283700" cy="7188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1346200"/>
            <a:ext cx="2921000" cy="44831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7" id="7"/>
          <p:cNvSpPr/>
          <p:nvPr/>
        </p:nvSpPr>
        <p:spPr>
          <a:xfrm>
            <a:off x="1181100" y="15621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4F729C"/>
          </a:solidFill>
        </p:spPr>
      </p:sp>
      <p:sp>
        <p:nvSpPr>
          <p:cNvPr name="AutoShape 8" id="8"/>
          <p:cNvSpPr/>
          <p:nvPr/>
        </p:nvSpPr>
        <p:spPr>
          <a:xfrm>
            <a:off x="4051300" y="1346200"/>
            <a:ext cx="2921000" cy="44831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9" id="9"/>
          <p:cNvSpPr/>
          <p:nvPr/>
        </p:nvSpPr>
        <p:spPr>
          <a:xfrm>
            <a:off x="4356100" y="15621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4F729C"/>
          </a:solidFill>
        </p:spPr>
      </p:sp>
      <p:sp>
        <p:nvSpPr>
          <p:cNvPr name="AutoShape 10" id="10"/>
          <p:cNvSpPr/>
          <p:nvPr/>
        </p:nvSpPr>
        <p:spPr>
          <a:xfrm>
            <a:off x="7239000" y="1346200"/>
            <a:ext cx="2921000" cy="44831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1" id="11"/>
          <p:cNvSpPr/>
          <p:nvPr/>
        </p:nvSpPr>
        <p:spPr>
          <a:xfrm>
            <a:off x="7543800" y="15621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4F729C"/>
          </a:solidFill>
        </p:spPr>
      </p:sp>
      <p:sp>
        <p:nvSpPr>
          <p:cNvPr name="AutoShape 12" id="12"/>
          <p:cNvSpPr/>
          <p:nvPr/>
        </p:nvSpPr>
        <p:spPr>
          <a:xfrm>
            <a:off x="876300" y="6057900"/>
            <a:ext cx="9283700" cy="24765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3" id="13"/>
          <p:cNvSpPr/>
          <p:nvPr/>
        </p:nvSpPr>
        <p:spPr>
          <a:xfrm>
            <a:off x="1181100" y="62738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4F729C"/>
          </a:solidFill>
        </p:spPr>
      </p:sp>
      <p:sp>
        <p:nvSpPr>
          <p:cNvPr name="TextBox 14" id="14"/>
          <p:cNvSpPr txBox="true"/>
          <p:nvPr/>
        </p:nvSpPr>
        <p:spPr>
          <a:xfrm>
            <a:off x="876300" y="584200"/>
            <a:ext cx="92837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400" b="true">
                <a:solidFill>
                  <a:srgbClr val="142943"/>
                </a:solidFill>
                <a:latin typeface="&quot;Yeseva One&quot;"/>
              </a:rPr>
              <a:t>Ansible : Automatisation Sans Agent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130300" y="2425700"/>
            <a:ext cx="24130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500" b="true">
                <a:solidFill>
                  <a:srgbClr val="142943"/>
                </a:solidFill>
                <a:latin typeface="&quot;Yeseva One&quot;"/>
              </a:rPr>
              <a:t>Qu'est-ce qu'Ansible ?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4305300" y="2425700"/>
            <a:ext cx="24130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500" b="true">
                <a:solidFill>
                  <a:srgbClr val="142943"/>
                </a:solidFill>
                <a:latin typeface="&quot;Yeseva One&quot;"/>
              </a:rPr>
              <a:t>YAML Simple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7493000" y="2425700"/>
            <a:ext cx="24130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500" b="true">
                <a:solidFill>
                  <a:srgbClr val="142943"/>
                </a:solidFill>
                <a:latin typeface="&quot;Yeseva One&quot;"/>
              </a:rPr>
              <a:t>Sans Agent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130300" y="7137400"/>
            <a:ext cx="87757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500" b="true">
                <a:solidFill>
                  <a:srgbClr val="142943"/>
                </a:solidFill>
                <a:latin typeface="&quot;Yeseva One&quot;"/>
              </a:rPr>
              <a:t>Idempotent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130300" y="3352800"/>
            <a:ext cx="2413000" cy="226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Outil open-source Red Hat pour automatiser configuration, déploiement et orchestration via SSH.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4305300" y="3352800"/>
            <a:ext cx="2413000" cy="161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Playbooks en YAML lisibles par humains. Pas de langage complexe à apprendre.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7493000" y="2971800"/>
            <a:ext cx="2413000" cy="1295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Aucun logiciel à installer sur machines cibles. Utilise SSH natif.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130300" y="7683500"/>
            <a:ext cx="87757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Exécutions multiples produisent même résultat. Sécurité et stabilité garanties.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rcRect t="15000" b="15000"/>
          <a:stretch>
            <a:fillRect/>
          </a:stretch>
        </p:blipFill>
        <p:spPr>
          <a:xfrm>
            <a:off x="1346200" y="1778000"/>
            <a:ext cx="304800" cy="215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5"/>
          <a:srcRect l="9000" r="9000"/>
          <a:stretch>
            <a:fillRect/>
          </a:stretch>
        </p:blipFill>
        <p:spPr>
          <a:xfrm>
            <a:off x="4597400" y="1778000"/>
            <a:ext cx="177800" cy="2159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6"/>
          <a:srcRect t="6000" b="6000"/>
          <a:stretch>
            <a:fillRect/>
          </a:stretch>
        </p:blipFill>
        <p:spPr>
          <a:xfrm>
            <a:off x="7747000" y="1778000"/>
            <a:ext cx="241300" cy="215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7"/>
          <a:srcRect t="12000" b="12000"/>
          <a:stretch>
            <a:fillRect/>
          </a:stretch>
        </p:blipFill>
        <p:spPr>
          <a:xfrm>
            <a:off x="1358900" y="6489700"/>
            <a:ext cx="279400" cy="215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1498600"/>
            <a:ext cx="14490700" cy="6985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1498600"/>
            <a:ext cx="3429000" cy="41783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6" id="6"/>
          <p:cNvSpPr/>
          <p:nvPr/>
        </p:nvSpPr>
        <p:spPr>
          <a:xfrm>
            <a:off x="1143000" y="17272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4F729C"/>
          </a:solidFill>
        </p:spPr>
      </p:sp>
      <p:sp>
        <p:nvSpPr>
          <p:cNvPr name="AutoShape 7" id="7"/>
          <p:cNvSpPr/>
          <p:nvPr/>
        </p:nvSpPr>
        <p:spPr>
          <a:xfrm>
            <a:off x="4559300" y="1498600"/>
            <a:ext cx="3429000" cy="41783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8" id="8"/>
          <p:cNvSpPr/>
          <p:nvPr/>
        </p:nvSpPr>
        <p:spPr>
          <a:xfrm>
            <a:off x="4838700" y="17272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4F729C"/>
          </a:solidFill>
        </p:spPr>
      </p:sp>
      <p:sp>
        <p:nvSpPr>
          <p:cNvPr name="AutoShape 9" id="9"/>
          <p:cNvSpPr/>
          <p:nvPr/>
        </p:nvSpPr>
        <p:spPr>
          <a:xfrm>
            <a:off x="8242300" y="1498600"/>
            <a:ext cx="3429000" cy="41783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0" id="10"/>
          <p:cNvSpPr/>
          <p:nvPr/>
        </p:nvSpPr>
        <p:spPr>
          <a:xfrm>
            <a:off x="8521700" y="17272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4F729C"/>
          </a:solidFill>
        </p:spPr>
      </p:sp>
      <p:sp>
        <p:nvSpPr>
          <p:cNvPr name="AutoShape 11" id="11"/>
          <p:cNvSpPr/>
          <p:nvPr/>
        </p:nvSpPr>
        <p:spPr>
          <a:xfrm>
            <a:off x="11938000" y="1498600"/>
            <a:ext cx="3429000" cy="41783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2" id="12"/>
          <p:cNvSpPr/>
          <p:nvPr/>
        </p:nvSpPr>
        <p:spPr>
          <a:xfrm>
            <a:off x="12204700" y="17272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4F729C"/>
          </a:solidFill>
        </p:spPr>
      </p:sp>
      <p:sp>
        <p:nvSpPr>
          <p:cNvPr name="AutoShape 13" id="13"/>
          <p:cNvSpPr/>
          <p:nvPr/>
        </p:nvSpPr>
        <p:spPr>
          <a:xfrm>
            <a:off x="876300" y="5918200"/>
            <a:ext cx="14490700" cy="25654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4" id="14"/>
          <p:cNvSpPr/>
          <p:nvPr/>
        </p:nvSpPr>
        <p:spPr>
          <a:xfrm>
            <a:off x="1143000" y="61468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4F729C"/>
          </a:solidFill>
        </p:spPr>
      </p:sp>
      <p:sp>
        <p:nvSpPr>
          <p:cNvPr name="TextBox 15" id="15"/>
          <p:cNvSpPr txBox="true"/>
          <p:nvPr/>
        </p:nvSpPr>
        <p:spPr>
          <a:xfrm>
            <a:off x="876300" y="647700"/>
            <a:ext cx="14490700" cy="57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700" b="true">
                <a:solidFill>
                  <a:srgbClr val="142943"/>
                </a:solidFill>
                <a:latin typeface="&quot;Yeseva One&quot;"/>
              </a:rPr>
              <a:t>Composants Ansible : Architecture Complète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130300" y="2692400"/>
            <a:ext cx="29210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142943"/>
                </a:solidFill>
                <a:latin typeface="&quot;Yeseva One&quot;"/>
              </a:rPr>
              <a:t>Control Node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4813300" y="2692400"/>
            <a:ext cx="29210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142943"/>
                </a:solidFill>
                <a:latin typeface="&quot;Yeseva One&quot;"/>
              </a:rPr>
              <a:t>Managed Nodes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8496300" y="2692400"/>
            <a:ext cx="29210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142943"/>
                </a:solidFill>
                <a:latin typeface="&quot;Yeseva One&quot;"/>
              </a:rPr>
              <a:t>Inventory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2179300" y="2692400"/>
            <a:ext cx="29210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142943"/>
                </a:solidFill>
                <a:latin typeface="&quot;Yeseva One&quot;"/>
              </a:rPr>
              <a:t>Playbooks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130300" y="7112000"/>
            <a:ext cx="88138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142943"/>
                </a:solidFill>
                <a:latin typeface="&quot;Yeseva One&quot;"/>
              </a:rPr>
              <a:t>Modules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130300" y="3289300"/>
            <a:ext cx="2921000" cy="161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42943"/>
                </a:solidFill>
                <a:latin typeface="&quot;Yeseva One&quot;"/>
              </a:rPr>
              <a:t>Machine où </a:t>
            </a:r>
            <a:r>
              <a:rPr lang="en-US" sz="1600" b="true">
                <a:solidFill>
                  <a:srgbClr val="3498DB"/>
                </a:solidFill>
                <a:latin typeface="&quot;Yeseva One&quot;"/>
              </a:rPr>
              <a:t>Ansible</a:t>
            </a:r>
            <a:r>
              <a:rPr lang="en-US" sz="1800" b="true">
                <a:solidFill>
                  <a:srgbClr val="142943"/>
                </a:solidFill>
                <a:latin typeface="&quot;Yeseva One&quot;"/>
              </a:rPr>
              <a:t> est installé et d'où sont lancées les commandes.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4813300" y="3708400"/>
            <a:ext cx="2921000" cy="142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42943"/>
                </a:solidFill>
                <a:latin typeface="&quot;Yeseva One&quot;"/>
              </a:rPr>
              <a:t>Serveurs cibles gérés par </a:t>
            </a:r>
            <a:r>
              <a:rPr lang="en-US" sz="1600" b="true">
                <a:solidFill>
                  <a:srgbClr val="3498DB"/>
                </a:solidFill>
                <a:latin typeface="&quot;Yeseva One&quot;"/>
              </a:rPr>
              <a:t>Ansible</a:t>
            </a:r>
            <a:r>
              <a:rPr lang="en-US" sz="1800" b="true">
                <a:solidFill>
                  <a:srgbClr val="142943"/>
                </a:solidFill>
                <a:latin typeface="&quot;Yeseva One&quot;"/>
              </a:rPr>
              <a:t> via SSH.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8496300" y="3289300"/>
            <a:ext cx="2921000" cy="2146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42943"/>
                </a:solidFill>
                <a:latin typeface="&quot;Yeseva One&quot;"/>
              </a:rPr>
              <a:t>Fichier listant machines cibles et leurs groupes.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12179300" y="3289300"/>
            <a:ext cx="2921000" cy="1244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42943"/>
                </a:solidFill>
                <a:latin typeface="&quot;Yeseva One&quot;"/>
              </a:rPr>
              <a:t>Fichiers </a:t>
            </a:r>
            <a:r>
              <a:rPr lang="en-US" sz="1600" b="true">
                <a:solidFill>
                  <a:srgbClr val="3498DB"/>
                </a:solidFill>
                <a:latin typeface="&quot;Yeseva One&quot;"/>
              </a:rPr>
              <a:t>YAML</a:t>
            </a:r>
            <a:r>
              <a:rPr lang="en-US" sz="1800" b="true">
                <a:solidFill>
                  <a:srgbClr val="142943"/>
                </a:solidFill>
                <a:latin typeface="&quot;Yeseva One&quot;"/>
              </a:rPr>
              <a:t> décrivant tâches à exécuter sur les hôtes.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1130300" y="7708900"/>
            <a:ext cx="88138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42943"/>
                </a:solidFill>
                <a:latin typeface="&quot;Yeseva One&quot;"/>
              </a:rPr>
              <a:t>Unités de travail </a:t>
            </a:r>
            <a:r>
              <a:rPr lang="en-US" sz="1600" b="true">
                <a:solidFill>
                  <a:srgbClr val="3498DB"/>
                </a:solidFill>
                <a:latin typeface="&quot;Yeseva One&quot;"/>
              </a:rPr>
              <a:t>Ansible</a:t>
            </a:r>
            <a:r>
              <a:rPr lang="en-US" sz="1800" b="true">
                <a:solidFill>
                  <a:srgbClr val="142943"/>
                </a:solidFill>
                <a:latin typeface="&quot;Yeseva One&quot;"/>
              </a:rPr>
              <a:t> (plus de 3000 modules disponibles).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3"/>
          <a:srcRect t="3000" b="3000"/>
          <a:stretch>
            <a:fillRect/>
          </a:stretch>
        </p:blipFill>
        <p:spPr>
          <a:xfrm>
            <a:off x="1384300" y="1968500"/>
            <a:ext cx="241300" cy="228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4"/>
          <a:srcRect t="13000" b="13000"/>
          <a:stretch>
            <a:fillRect/>
          </a:stretch>
        </p:blipFill>
        <p:spPr>
          <a:xfrm>
            <a:off x="5029200" y="1968500"/>
            <a:ext cx="304800" cy="228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5"/>
          <a:srcRect t="3000" b="3000"/>
          <a:stretch>
            <a:fillRect/>
          </a:stretch>
        </p:blipFill>
        <p:spPr>
          <a:xfrm>
            <a:off x="8750300" y="1968500"/>
            <a:ext cx="241300" cy="2286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6"/>
          <a:srcRect l="3000" r="3000"/>
          <a:stretch>
            <a:fillRect/>
          </a:stretch>
        </p:blipFill>
        <p:spPr>
          <a:xfrm>
            <a:off x="12458700" y="1968500"/>
            <a:ext cx="215900" cy="2286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7"/>
          <a:srcRect l="12000" r="12000"/>
          <a:stretch>
            <a:fillRect/>
          </a:stretch>
        </p:blipFill>
        <p:spPr>
          <a:xfrm>
            <a:off x="1409700" y="6388100"/>
            <a:ext cx="1778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1000" b="1000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6083300" y="3898900"/>
            <a:ext cx="9283700" cy="3276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6083300" y="3898900"/>
            <a:ext cx="9283700" cy="3276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6083300" y="3898900"/>
            <a:ext cx="558800" cy="5461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8" id="8"/>
          <p:cNvSpPr/>
          <p:nvPr/>
        </p:nvSpPr>
        <p:spPr>
          <a:xfrm>
            <a:off x="6083300" y="7454900"/>
            <a:ext cx="12700" cy="723900"/>
          </a:xfrm>
          <a:prstGeom prst="rect">
            <a:avLst/>
          </a:prstGeom>
          <a:solidFill>
            <a:srgbClr val="142943"/>
          </a:solidFill>
        </p:spPr>
      </p:sp>
      <p:sp>
        <p:nvSpPr>
          <p:cNvPr name="TextBox 9" id="9"/>
          <p:cNvSpPr txBox="true"/>
          <p:nvPr/>
        </p:nvSpPr>
        <p:spPr>
          <a:xfrm>
            <a:off x="6083300" y="660400"/>
            <a:ext cx="92837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800" b="true">
                <a:solidFill>
                  <a:srgbClr val="142943"/>
                </a:solidFill>
                <a:latin typeface="&quot;Yeseva One&quot;"/>
              </a:rPr>
              <a:t>Structure d'un Playbook Ansible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6083300" y="1524000"/>
            <a:ext cx="92837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142943"/>
                </a:solidFill>
                <a:latin typeface="&quot;Yeseva One&quot;"/>
              </a:rPr>
              <a:t>Anatomie d'un Playbook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083300" y="3251200"/>
            <a:ext cx="92837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42943"/>
                </a:solidFill>
                <a:latin typeface="&quot;Yeseva One&quot;"/>
              </a:rPr>
              <a:t>Éléments Principaux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6299200" y="3987800"/>
            <a:ext cx="3048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1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6083300" y="2247900"/>
            <a:ext cx="92837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Un playbook est un fichier YAML contenant une série de plays. Chaque play définit un ensemble de tâches à exécuter sur un groupe d'hôtes.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7150100" y="4000500"/>
            <a:ext cx="82169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Hosts</a:t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 : Groupe de machines cibles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7150100" y="4559300"/>
            <a:ext cx="82169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Tasks</a:t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 : Liste de tâches à exécuter séquentiellement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7150100" y="5118100"/>
            <a:ext cx="82169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Modules</a:t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 : Fonctions Ansible (yum, apt, copy, service)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7150100" y="5689600"/>
            <a:ext cx="82169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Variables</a:t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 : Paramètres réutilisables et configurables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7150100" y="6248400"/>
            <a:ext cx="82169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Handlers</a:t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 : Tâches déclenchées par changements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7150100" y="6807200"/>
            <a:ext cx="82169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Roles</a:t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 : Organisation modulaire des playbooks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6324600" y="7454900"/>
            <a:ext cx="90297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"Les playbooks transforment des opérations complexes en fichiers déclaratifs simples et réutilisables."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6769100" y="4051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6769100" y="4622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6769100" y="5181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6769100" y="5740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6769100" y="6311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6769100" y="6870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32000" b="32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FFFFF">
              <a:alpha val="0"/>
            </a:srgbClr>
          </a:solidFill>
        </p:spPr>
      </p:sp>
      <p:sp>
        <p:nvSpPr>
          <p:cNvPr name="TextBox 6" id="6"/>
          <p:cNvSpPr txBox="true"/>
          <p:nvPr/>
        </p:nvSpPr>
        <p:spPr>
          <a:xfrm>
            <a:off x="876300" y="32893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60000"/>
              </a:lnSpc>
              <a:defRPr/>
            </a:pPr>
            <a:r>
              <a:rPr lang="en-US"/>
              <a:t/>
            </a:r>
            <a:r>
              <a:rPr lang="en-US" sz="4900" b="true">
                <a:solidFill>
                  <a:srgbClr val="142943"/>
                </a:solidFill>
                <a:latin typeface="&quot;Yeseva One&quot;"/>
              </a:rPr>
              <a:t>Merci de Votre Attention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876300" y="4330700"/>
            <a:ext cx="144907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6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142943"/>
                </a:solidFill>
                <a:latin typeface="&quot;Yeseva One&quot;"/>
              </a:rPr>
              <a:t>Terraform et Ansible sont les piliers de l'Infrastructure as Code moderne pour des déploiements automatisés, fiables et scalables.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628900"/>
            <a:ext cx="14490700" cy="4102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2628900"/>
            <a:ext cx="3429000" cy="41021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6" id="6"/>
          <p:cNvSpPr/>
          <p:nvPr/>
        </p:nvSpPr>
        <p:spPr>
          <a:xfrm>
            <a:off x="1130300" y="28829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4F729C"/>
          </a:solidFill>
        </p:spPr>
      </p:sp>
      <p:sp>
        <p:nvSpPr>
          <p:cNvPr name="AutoShape 7" id="7"/>
          <p:cNvSpPr/>
          <p:nvPr/>
        </p:nvSpPr>
        <p:spPr>
          <a:xfrm>
            <a:off x="4559300" y="2628900"/>
            <a:ext cx="3429000" cy="41021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8" id="8"/>
          <p:cNvSpPr/>
          <p:nvPr/>
        </p:nvSpPr>
        <p:spPr>
          <a:xfrm>
            <a:off x="4813300" y="28829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4F729C"/>
          </a:solidFill>
        </p:spPr>
      </p:sp>
      <p:sp>
        <p:nvSpPr>
          <p:cNvPr name="AutoShape 9" id="9"/>
          <p:cNvSpPr/>
          <p:nvPr/>
        </p:nvSpPr>
        <p:spPr>
          <a:xfrm>
            <a:off x="8242300" y="2628900"/>
            <a:ext cx="3429000" cy="41021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0" id="10"/>
          <p:cNvSpPr/>
          <p:nvPr/>
        </p:nvSpPr>
        <p:spPr>
          <a:xfrm>
            <a:off x="8496300" y="28829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4F729C"/>
          </a:solidFill>
        </p:spPr>
      </p:sp>
      <p:sp>
        <p:nvSpPr>
          <p:cNvPr name="AutoShape 11" id="11"/>
          <p:cNvSpPr/>
          <p:nvPr/>
        </p:nvSpPr>
        <p:spPr>
          <a:xfrm>
            <a:off x="11938000" y="2628900"/>
            <a:ext cx="3429000" cy="41021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2" id="12"/>
          <p:cNvSpPr/>
          <p:nvPr/>
        </p:nvSpPr>
        <p:spPr>
          <a:xfrm>
            <a:off x="12179300" y="28829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4F729C"/>
          </a:solidFill>
        </p:spPr>
      </p:sp>
      <p:sp>
        <p:nvSpPr>
          <p:cNvPr name="TextBox 13" id="13"/>
          <p:cNvSpPr txBox="true"/>
          <p:nvPr/>
        </p:nvSpPr>
        <p:spPr>
          <a:xfrm>
            <a:off x="876300" y="17399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142943"/>
                </a:solidFill>
                <a:latin typeface="&quot;Yeseva One&quot;"/>
              </a:rPr>
              <a:t>Écosystème et Intégrations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130300" y="3886200"/>
            <a:ext cx="29210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142943"/>
                </a:solidFill>
                <a:latin typeface="&quot;Yeseva One&quot;"/>
              </a:rPr>
              <a:t>Version Control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4813300" y="3886200"/>
            <a:ext cx="2921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142943"/>
                </a:solidFill>
                <a:latin typeface="&quot;Yeseva One&quot;"/>
              </a:rPr>
              <a:t>CI/CD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8496300" y="3886200"/>
            <a:ext cx="2921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142943"/>
                </a:solidFill>
                <a:latin typeface="&quot;Yeseva One&quot;"/>
              </a:rPr>
              <a:t>Monitoring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2179300" y="3886200"/>
            <a:ext cx="29210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142943"/>
                </a:solidFill>
                <a:latin typeface="&quot;Yeseva One&quot;"/>
              </a:rPr>
              <a:t>Secrets Management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130300" y="4965700"/>
            <a:ext cx="29210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3498DB"/>
                </a:solidFill>
                <a:latin typeface="&quot;Yeseva One&quot;"/>
              </a:rPr>
              <a:t>Git, GitHub, GitLab</a:t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 pour versioning et collaboration sur code infrastructure.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4813300" y="4508500"/>
            <a:ext cx="29210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3498DB"/>
                </a:solidFill>
                <a:latin typeface="&quot;Yeseva One&quot;"/>
              </a:rPr>
              <a:t>Jenkins, GitLab CI, GitHub Actions</a:t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 pour automatisation déploiements.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8496300" y="4508500"/>
            <a:ext cx="29210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3498DB"/>
                </a:solidFill>
                <a:latin typeface="&quot;Yeseva One&quot;"/>
              </a:rPr>
              <a:t>Datadog, Prometheus, CloudWatch</a:t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 pour surveillance infrastructure déployée.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2179300" y="4965700"/>
            <a:ext cx="29210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3498DB"/>
                </a:solidFill>
                <a:latin typeface="&quot;Yeseva One&quot;"/>
              </a:rPr>
              <a:t>HashiCorp Vault, AWS Secrets Manager</a:t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 pour gestion sécurisée des secrets.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876300" y="70104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Intégration dans un écosystème DevOps complet pour automatisation bout en bout.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3"/>
          <a:srcRect l="6000" r="6000"/>
          <a:stretch>
            <a:fillRect/>
          </a:stretch>
        </p:blipFill>
        <p:spPr>
          <a:xfrm>
            <a:off x="1397000" y="3124200"/>
            <a:ext cx="215900" cy="241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4"/>
          <a:srcRect l="0" r="0"/>
          <a:stretch>
            <a:fillRect/>
          </a:stretch>
        </p:blipFill>
        <p:spPr>
          <a:xfrm>
            <a:off x="5067300" y="3124200"/>
            <a:ext cx="241300" cy="241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5"/>
          <a:srcRect t="7000" b="7000"/>
          <a:stretch>
            <a:fillRect/>
          </a:stretch>
        </p:blipFill>
        <p:spPr>
          <a:xfrm>
            <a:off x="8737600" y="3124200"/>
            <a:ext cx="279400" cy="241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6"/>
          <a:srcRect l="0" r="0"/>
          <a:stretch>
            <a:fillRect/>
          </a:stretch>
        </p:blipFill>
        <p:spPr>
          <a:xfrm>
            <a:off x="12433300" y="31242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1000" b="1000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6083300" y="2857500"/>
            <a:ext cx="9283700" cy="3695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6083300" y="2857500"/>
            <a:ext cx="4483100" cy="3695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6083300" y="2857500"/>
            <a:ext cx="558800" cy="5588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8" id="8"/>
          <p:cNvSpPr/>
          <p:nvPr/>
        </p:nvSpPr>
        <p:spPr>
          <a:xfrm>
            <a:off x="10883900" y="2857500"/>
            <a:ext cx="4483100" cy="3695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9" id="9"/>
          <p:cNvSpPr/>
          <p:nvPr/>
        </p:nvSpPr>
        <p:spPr>
          <a:xfrm>
            <a:off x="10883900" y="2857500"/>
            <a:ext cx="558800" cy="5588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0" id="10"/>
          <p:cNvSpPr/>
          <p:nvPr/>
        </p:nvSpPr>
        <p:spPr>
          <a:xfrm>
            <a:off x="6083300" y="6858000"/>
            <a:ext cx="12700" cy="749300"/>
          </a:xfrm>
          <a:prstGeom prst="rect">
            <a:avLst/>
          </a:prstGeom>
          <a:solidFill>
            <a:srgbClr val="142943"/>
          </a:solidFill>
        </p:spPr>
      </p:sp>
      <p:sp>
        <p:nvSpPr>
          <p:cNvPr name="TextBox 11" id="11"/>
          <p:cNvSpPr txBox="true"/>
          <p:nvPr/>
        </p:nvSpPr>
        <p:spPr>
          <a:xfrm>
            <a:off x="6083300" y="1231900"/>
            <a:ext cx="9283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142943"/>
                </a:solidFill>
                <a:latin typeface="&quot;Yeseva One&quot;"/>
              </a:rPr>
              <a:t>Bonnes Pratiques IaC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6083300" y="2120900"/>
            <a:ext cx="9283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142943"/>
                </a:solidFill>
                <a:latin typeface="&quot;Yeseva One&quot;"/>
              </a:rPr>
              <a:t>Recommandations Essentielles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6299200" y="2959100"/>
            <a:ext cx="304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1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6896100" y="2946400"/>
            <a:ext cx="3657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42943"/>
                </a:solidFill>
                <a:latin typeface="&quot;Yeseva One&quot;"/>
              </a:rPr>
              <a:t>Organisation du Code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1074400" y="2959100"/>
            <a:ext cx="304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2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1696700" y="2946400"/>
            <a:ext cx="3657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42943"/>
                </a:solidFill>
                <a:latin typeface="&quot;Yeseva One&quot;"/>
              </a:rPr>
              <a:t>Sécurité et Gestion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7150100" y="3517900"/>
            <a:ext cx="34163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Structure modulaire et réutilisable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7150100" y="4483100"/>
            <a:ext cx="34163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Séparation environnements (dev/staging/prod)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7150100" y="5816600"/>
            <a:ext cx="34163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Nommage cohérent et documenté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1950700" y="3517900"/>
            <a:ext cx="34163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Secrets dans vaults (Vault, AWS Secrets Manager)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1950700" y="4483100"/>
            <a:ext cx="34163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State Terraform chiffré et distant (S3, Terraform Cloud)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1950700" y="5816600"/>
            <a:ext cx="34163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Revue de code obligatoire avant apply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6324600" y="6858000"/>
            <a:ext cx="9029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"Traiter l'infrastructure comme du code signifie appliquer toutes les bonnes pratiques du développement logiciel."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6769100" y="3581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6769100" y="4533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6769100" y="5880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11569700" y="3581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11569700" y="4533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11569700" y="5880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14294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400300"/>
            <a:ext cx="14490700" cy="4483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2400300"/>
            <a:ext cx="3429000" cy="44831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6" id="6"/>
          <p:cNvSpPr/>
          <p:nvPr/>
        </p:nvSpPr>
        <p:spPr>
          <a:xfrm>
            <a:off x="1130300" y="2654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4F729C"/>
          </a:solidFill>
        </p:spPr>
      </p:sp>
      <p:sp>
        <p:nvSpPr>
          <p:cNvPr name="AutoShape 7" id="7"/>
          <p:cNvSpPr/>
          <p:nvPr/>
        </p:nvSpPr>
        <p:spPr>
          <a:xfrm>
            <a:off x="4559300" y="2400300"/>
            <a:ext cx="3429000" cy="44831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8" id="8"/>
          <p:cNvSpPr/>
          <p:nvPr/>
        </p:nvSpPr>
        <p:spPr>
          <a:xfrm>
            <a:off x="4813300" y="2654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4F729C"/>
          </a:solidFill>
        </p:spPr>
      </p:sp>
      <p:sp>
        <p:nvSpPr>
          <p:cNvPr name="AutoShape 9" id="9"/>
          <p:cNvSpPr/>
          <p:nvPr/>
        </p:nvSpPr>
        <p:spPr>
          <a:xfrm>
            <a:off x="8242300" y="2400300"/>
            <a:ext cx="3429000" cy="44831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0" id="10"/>
          <p:cNvSpPr/>
          <p:nvPr/>
        </p:nvSpPr>
        <p:spPr>
          <a:xfrm>
            <a:off x="8496300" y="2654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4F729C"/>
          </a:solidFill>
        </p:spPr>
      </p:sp>
      <p:sp>
        <p:nvSpPr>
          <p:cNvPr name="AutoShape 11" id="11"/>
          <p:cNvSpPr/>
          <p:nvPr/>
        </p:nvSpPr>
        <p:spPr>
          <a:xfrm>
            <a:off x="11938000" y="2400300"/>
            <a:ext cx="3429000" cy="44831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2" id="12"/>
          <p:cNvSpPr/>
          <p:nvPr/>
        </p:nvSpPr>
        <p:spPr>
          <a:xfrm>
            <a:off x="12179300" y="2654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4F729C"/>
          </a:solidFill>
        </p:spPr>
      </p:sp>
      <p:sp>
        <p:nvSpPr>
          <p:cNvPr name="TextBox 13" id="13"/>
          <p:cNvSpPr txBox="true"/>
          <p:nvPr/>
        </p:nvSpPr>
        <p:spPr>
          <a:xfrm>
            <a:off x="876300" y="15113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142943"/>
                </a:solidFill>
                <a:latin typeface="&quot;Yeseva One&quot;"/>
              </a:rPr>
              <a:t>Cas d'Usage Pratiques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130300" y="3657600"/>
            <a:ext cx="2921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142943"/>
                </a:solidFill>
                <a:latin typeface="&quot;Yeseva One&quot;"/>
              </a:rPr>
              <a:t>Terraform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4813300" y="3657600"/>
            <a:ext cx="2921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142943"/>
                </a:solidFill>
                <a:latin typeface="&quot;Yeseva One&quot;"/>
              </a:rPr>
              <a:t>Ansible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8496300" y="3657600"/>
            <a:ext cx="2921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142943"/>
                </a:solidFill>
                <a:latin typeface="&quot;Yeseva One&quot;"/>
              </a:rPr>
              <a:t>Combinaison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2179300" y="3657600"/>
            <a:ext cx="29210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142943"/>
                </a:solidFill>
                <a:latin typeface="&quot;Yeseva One&quot;"/>
              </a:rPr>
              <a:t>CI/CD Integration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876300" y="7162800"/>
            <a:ext cx="1449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142943"/>
                </a:solidFill>
                <a:latin typeface="&quot;Yeseva One&quot;"/>
              </a:rPr>
              <a:t>Automatisation complète du provisionnement au déploiement applicatif.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130300" y="4292600"/>
            <a:ext cx="29210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3498DB"/>
                </a:solidFill>
                <a:latin typeface="&quot;Yeseva One&quot;"/>
              </a:rPr>
              <a:t>Créer VPC AWS, subnets, security groups. Provisionner cluster Kubernetes. Gérer DNS et CDN.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4813300" y="4292600"/>
            <a:ext cx="29210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3498DB"/>
                </a:solidFill>
                <a:latin typeface="&quot;Yeseva One&quot;"/>
              </a:rPr>
              <a:t>Installer et configurer NGINX. Déployer applications. Patcher systèmes. Gérer utilisateurs.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8496300" y="4292600"/>
            <a:ext cx="29210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3498DB"/>
                </a:solidFill>
                <a:latin typeface="&quot;Yeseva One&quot;"/>
              </a:rPr>
              <a:t>Terraform crée infrastructure AWS. Ansible configure instances EC2 et déploie applications.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2179300" y="4737100"/>
            <a:ext cx="29210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3498DB"/>
                </a:solidFill>
                <a:latin typeface="&quot;Yeseva One&quot;"/>
              </a:rPr>
              <a:t>Pipeline Jenkins/GitLab déclenche Terraform puis Ansible automatiquement.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3"/>
          <a:srcRect t="11000" b="11000"/>
          <a:stretch>
            <a:fillRect/>
          </a:stretch>
        </p:blipFill>
        <p:spPr>
          <a:xfrm>
            <a:off x="1346200" y="2908300"/>
            <a:ext cx="304800" cy="241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4"/>
          <a:srcRect l="0" r="0"/>
          <a:stretch>
            <a:fillRect/>
          </a:stretch>
        </p:blipFill>
        <p:spPr>
          <a:xfrm>
            <a:off x="5067300" y="2908300"/>
            <a:ext cx="241300" cy="241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5"/>
          <a:srcRect t="7000" b="7000"/>
          <a:stretch>
            <a:fillRect/>
          </a:stretch>
        </p:blipFill>
        <p:spPr>
          <a:xfrm>
            <a:off x="8737600" y="2908300"/>
            <a:ext cx="279400" cy="241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6"/>
          <a:srcRect t="11000" b="11000"/>
          <a:stretch>
            <a:fillRect/>
          </a:stretch>
        </p:blipFill>
        <p:spPr>
          <a:xfrm>
            <a:off x="12407900" y="2908300"/>
            <a:ext cx="3048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1000" b="1000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876300" y="1892300"/>
            <a:ext cx="9283700" cy="6629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1892300"/>
            <a:ext cx="2921000" cy="42291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7" id="7"/>
          <p:cNvSpPr/>
          <p:nvPr/>
        </p:nvSpPr>
        <p:spPr>
          <a:xfrm>
            <a:off x="1181100" y="21082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4F729C"/>
          </a:solidFill>
        </p:spPr>
      </p:sp>
      <p:sp>
        <p:nvSpPr>
          <p:cNvPr name="AutoShape 8" id="8"/>
          <p:cNvSpPr/>
          <p:nvPr/>
        </p:nvSpPr>
        <p:spPr>
          <a:xfrm>
            <a:off x="4051300" y="1892300"/>
            <a:ext cx="2921000" cy="42291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9" id="9"/>
          <p:cNvSpPr/>
          <p:nvPr/>
        </p:nvSpPr>
        <p:spPr>
          <a:xfrm>
            <a:off x="4356100" y="21082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4F729C"/>
          </a:solidFill>
        </p:spPr>
      </p:sp>
      <p:sp>
        <p:nvSpPr>
          <p:cNvPr name="AutoShape 10" id="10"/>
          <p:cNvSpPr/>
          <p:nvPr/>
        </p:nvSpPr>
        <p:spPr>
          <a:xfrm>
            <a:off x="7239000" y="1892300"/>
            <a:ext cx="2921000" cy="42291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1" id="11"/>
          <p:cNvSpPr/>
          <p:nvPr/>
        </p:nvSpPr>
        <p:spPr>
          <a:xfrm>
            <a:off x="7543800" y="21082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4F729C"/>
          </a:solidFill>
        </p:spPr>
      </p:sp>
      <p:sp>
        <p:nvSpPr>
          <p:cNvPr name="AutoShape 12" id="12"/>
          <p:cNvSpPr/>
          <p:nvPr/>
        </p:nvSpPr>
        <p:spPr>
          <a:xfrm>
            <a:off x="876300" y="6337300"/>
            <a:ext cx="9283700" cy="21844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13" id="13"/>
          <p:cNvSpPr/>
          <p:nvPr/>
        </p:nvSpPr>
        <p:spPr>
          <a:xfrm>
            <a:off x="1181100" y="65659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4F729C"/>
          </a:solidFill>
        </p:spPr>
      </p:sp>
      <p:sp>
        <p:nvSpPr>
          <p:cNvPr name="TextBox 14" id="14"/>
          <p:cNvSpPr txBox="true"/>
          <p:nvPr/>
        </p:nvSpPr>
        <p:spPr>
          <a:xfrm>
            <a:off x="876300" y="596900"/>
            <a:ext cx="9283700" cy="1041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400" b="true">
                <a:solidFill>
                  <a:srgbClr val="142943"/>
                </a:solidFill>
                <a:latin typeface="&quot;Yeseva One&quot;"/>
              </a:rPr>
              <a:t>Gestion de Configuration : Principes et Pratiques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130300" y="2984500"/>
            <a:ext cx="24130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500" b="true">
                <a:solidFill>
                  <a:srgbClr val="3498DB"/>
                </a:solidFill>
                <a:latin typeface="&quot;Yeseva One&quot;"/>
              </a:rPr>
              <a:t>Définition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4305300" y="2984500"/>
            <a:ext cx="2413000" cy="787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500" b="true">
                <a:solidFill>
                  <a:srgbClr val="3498DB"/>
                </a:solidFill>
                <a:latin typeface="&quot;Yeseva One&quot;"/>
              </a:rPr>
              <a:t>Idempotence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7493000" y="2984500"/>
            <a:ext cx="2413000" cy="787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500" b="true">
                <a:solidFill>
                  <a:srgbClr val="3498DB"/>
                </a:solidFill>
                <a:latin typeface="&quot;Yeseva One&quot;"/>
              </a:rPr>
              <a:t>Configuration as Code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130300" y="7442200"/>
            <a:ext cx="80518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500" b="true">
                <a:solidFill>
                  <a:srgbClr val="3498DB"/>
                </a:solidFill>
                <a:latin typeface="&quot;Yeseva One&quot;"/>
              </a:rPr>
              <a:t>Drift Detection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130300" y="3543300"/>
            <a:ext cx="2413000" cy="2298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Processus de maintien des systèmes dans un état cohérent, prévisible et désiré de manière automatisée.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4305300" y="3937000"/>
            <a:ext cx="2413000" cy="196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Appliquer configuration multiples fois produit toujours le même résultat final.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7493000" y="3937000"/>
            <a:ext cx="2413000" cy="163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Configurations versionées, testées et déployées comme du code applicatif.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130300" y="7988300"/>
            <a:ext cx="80518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142943"/>
                </a:solidFill>
                <a:latin typeface="&quot;Yeseva One&quot;"/>
              </a:rPr>
              <a:t>Détection automatique des écarts entre état désiré et état réel.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rcRect l="9000" r="9000"/>
          <a:stretch>
            <a:fillRect/>
          </a:stretch>
        </p:blipFill>
        <p:spPr>
          <a:xfrm>
            <a:off x="1409700" y="2336800"/>
            <a:ext cx="177800" cy="215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5"/>
          <a:srcRect t="6000" b="6000"/>
          <a:stretch>
            <a:fillRect/>
          </a:stretch>
        </p:blipFill>
        <p:spPr>
          <a:xfrm>
            <a:off x="4559300" y="2336800"/>
            <a:ext cx="241300" cy="2159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6"/>
          <a:srcRect t="15000" b="15000"/>
          <a:stretch>
            <a:fillRect/>
          </a:stretch>
        </p:blipFill>
        <p:spPr>
          <a:xfrm>
            <a:off x="7708900" y="2336800"/>
            <a:ext cx="304800" cy="215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7"/>
          <a:srcRect t="6000" b="6000"/>
          <a:stretch>
            <a:fillRect/>
          </a:stretch>
        </p:blipFill>
        <p:spPr>
          <a:xfrm>
            <a:off x="1384300" y="6781800"/>
            <a:ext cx="241300" cy="215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006600"/>
            <a:ext cx="14490700" cy="4216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2006600"/>
            <a:ext cx="7112000" cy="42164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6" id="6"/>
          <p:cNvSpPr/>
          <p:nvPr/>
        </p:nvSpPr>
        <p:spPr>
          <a:xfrm>
            <a:off x="1130300" y="22606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4F729C"/>
          </a:solidFill>
        </p:spPr>
      </p:sp>
      <p:sp>
        <p:nvSpPr>
          <p:cNvPr name="AutoShape 7" id="7"/>
          <p:cNvSpPr/>
          <p:nvPr/>
        </p:nvSpPr>
        <p:spPr>
          <a:xfrm>
            <a:off x="8242300" y="2006600"/>
            <a:ext cx="7112000" cy="4216400"/>
          </a:xfrm>
          <a:prstGeom prst="rect">
            <a:avLst/>
          </a:prstGeom>
          <a:solidFill>
            <a:srgbClr val="AFCCEF"/>
          </a:solidFill>
        </p:spPr>
      </p:sp>
      <p:sp>
        <p:nvSpPr>
          <p:cNvPr name="AutoShape 8" id="8"/>
          <p:cNvSpPr/>
          <p:nvPr/>
        </p:nvSpPr>
        <p:spPr>
          <a:xfrm>
            <a:off x="8496300" y="22606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4F729C"/>
          </a:solidFill>
        </p:spPr>
      </p:sp>
      <p:sp>
        <p:nvSpPr>
          <p:cNvPr name="TextBox 9" id="9"/>
          <p:cNvSpPr txBox="true"/>
          <p:nvPr/>
        </p:nvSpPr>
        <p:spPr>
          <a:xfrm>
            <a:off x="876300" y="11176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142943"/>
                </a:solidFill>
                <a:latin typeface="&quot;Yeseva One&quot;"/>
              </a:rPr>
              <a:t>Terraform vs Ansible : Complémentarité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1130300" y="3276600"/>
            <a:ext cx="6604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142943"/>
                </a:solidFill>
                <a:latin typeface="&quot;Yeseva One&quot;"/>
              </a:rPr>
              <a:t>Terraform - Provisionnement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8496300" y="3276600"/>
            <a:ext cx="6604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142943"/>
                </a:solidFill>
                <a:latin typeface="&quot;Yeseva One&quot;"/>
              </a:rPr>
              <a:t>Ansible - Configuration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876300" y="6515100"/>
            <a:ext cx="1449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142943"/>
                </a:solidFill>
                <a:latin typeface="&quot;Yeseva One&quot;"/>
              </a:rPr>
              <a:t>Utilisation Conjointe Recommandée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130300" y="3898900"/>
            <a:ext cx="6604000" cy="207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3498DB"/>
                </a:solidFill>
                <a:latin typeface="&quot;Yeseva One&quot;"/>
              </a:rPr>
              <a:t>Terraform</a:t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 </a:t>
            </a:r>
            <a:r>
              <a:rPr lang="en-US" sz="2400" b="true">
                <a:solidFill>
                  <a:srgbClr val="142943"/>
                </a:solidFill>
                <a:latin typeface="&quot;Yeseva One&quot;"/>
              </a:rPr>
              <a:t>Infrastructure immutable.</a:t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 Crée et détruit ressources cloud (VMs, réseaux, stockage). État centralisé. Meilleur pour : provisionnement initial, infrastructure cloud, gestion de ressources.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8496300" y="3898900"/>
            <a:ext cx="6604000" cy="207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3498DB"/>
                </a:solidFill>
                <a:latin typeface="&quot;Yeseva One&quot;"/>
              </a:rPr>
              <a:t>Ansible</a:t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 </a:t>
            </a:r>
            <a:r>
              <a:rPr lang="en-US" sz="2400" b="true">
                <a:solidFill>
                  <a:srgbClr val="142943"/>
                </a:solidFill>
                <a:latin typeface="&quot;Yeseva One&quot;"/>
              </a:rPr>
              <a:t>Infrastructure mutable.</a:t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 Configure et orchestre systèmes existants. Sans état persistent. Meilleur pour : configuration applicative, déploiements, orchestration multi-serveurs.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876300" y="72517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142943"/>
                </a:solidFill>
                <a:latin typeface="&quot;Yeseva One&quot;"/>
              </a:rPr>
              <a:t>Terraform provisionne l'infrastructure (VMs, réseaux), puis Ansible configure les systèmes (packages, services, applications). Ensemble, ils couvrent tout le cycle de vie.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rcRect l="14000" r="14000"/>
          <a:stretch>
            <a:fillRect/>
          </a:stretch>
        </p:blipFill>
        <p:spPr>
          <a:xfrm>
            <a:off x="1409700" y="2514600"/>
            <a:ext cx="177800" cy="241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rcRect t="11000" b="11000"/>
          <a:stretch>
            <a:fillRect/>
          </a:stretch>
        </p:blipFill>
        <p:spPr>
          <a:xfrm>
            <a:off x="8724900" y="2514600"/>
            <a:ext cx="304800" cy="241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